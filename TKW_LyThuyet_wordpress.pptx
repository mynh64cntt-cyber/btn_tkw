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bin" panose="020B0604020202020204" charset="-93"/>
      <p:regular r:id="rId16"/>
    </p:embeddedFont>
    <p:embeddedFont>
      <p:font typeface="Cabin Bold" panose="020B0604020202020204" charset="-93"/>
      <p:regular r:id="rId17"/>
    </p:embeddedFont>
    <p:embeddedFont>
      <p:font typeface="Cabin Medium" panose="020B0604020202020204" charset="-93"/>
      <p:regular r:id="rId18"/>
    </p:embeddedFont>
    <p:embeddedFont>
      <p:font typeface="Cabin Semi-Bold" panose="020B0604020202020204" charset="-9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20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00000"/>
              </a:srgbClr>
            </a:gs>
            <a:gs pos="100000">
              <a:srgbClr val="FFA9F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2738345" y="1195892"/>
            <a:ext cx="10918940" cy="9455310"/>
            <a:chOff x="0" y="0"/>
            <a:chExt cx="4282440" cy="370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443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105179" y="8090781"/>
            <a:ext cx="4742962" cy="4392438"/>
            <a:chOff x="0" y="0"/>
            <a:chExt cx="5800804" cy="5372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00804" cy="5372100"/>
            </a:xfrm>
            <a:custGeom>
              <a:avLst/>
              <a:gdLst/>
              <a:ahLst/>
              <a:cxnLst/>
              <a:rect l="l" t="t" r="r" b="b"/>
              <a:pathLst>
                <a:path w="5800804" h="5372100">
                  <a:moveTo>
                    <a:pt x="4250134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250134" y="5372100"/>
                  </a:lnTo>
                  <a:lnTo>
                    <a:pt x="5800804" y="2686050"/>
                  </a:lnTo>
                  <a:lnTo>
                    <a:pt x="4250134" y="0"/>
                  </a:lnTo>
                  <a:close/>
                </a:path>
              </a:pathLst>
            </a:custGeom>
            <a:solidFill>
              <a:srgbClr val="E1A8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3602767" y="-3778684"/>
            <a:ext cx="10210354" cy="6226137"/>
            <a:chOff x="0" y="0"/>
            <a:chExt cx="8809804" cy="5372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09803" cy="5372100"/>
            </a:xfrm>
            <a:custGeom>
              <a:avLst/>
              <a:gdLst/>
              <a:ahLst/>
              <a:cxnLst/>
              <a:rect l="l" t="t" r="r" b="b"/>
              <a:pathLst>
                <a:path w="8809803" h="5372100">
                  <a:moveTo>
                    <a:pt x="7259134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7259134" y="5372100"/>
                  </a:lnTo>
                  <a:lnTo>
                    <a:pt x="8809803" y="2686050"/>
                  </a:lnTo>
                  <a:lnTo>
                    <a:pt x="7259134" y="0"/>
                  </a:lnTo>
                  <a:close/>
                </a:path>
              </a:pathLst>
            </a:custGeom>
            <a:solidFill>
              <a:srgbClr val="FF66C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848141" y="2601005"/>
            <a:ext cx="8411159" cy="30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99"/>
              </a:lnSpc>
            </a:pPr>
            <a:r>
              <a:rPr lang="en-US" sz="9999" b="1" spc="299" dirty="0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CHỦ ĐỀ 11 WORDPRESS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510258"/>
            <a:ext cx="9964391" cy="108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70"/>
              </a:lnSpc>
              <a:spcBef>
                <a:spcPct val="0"/>
              </a:spcBef>
            </a:pPr>
            <a:r>
              <a:rPr lang="en-US" sz="7700" b="1" u="none" dirty="0" err="1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Chương</a:t>
            </a:r>
            <a:r>
              <a:rPr lang="en-US" sz="7700" b="1" u="none" dirty="0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 </a:t>
            </a:r>
            <a:r>
              <a:rPr lang="en-US" sz="7700" b="1" u="none" dirty="0" err="1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trình</a:t>
            </a:r>
            <a:endParaRPr lang="en-US" sz="7700" b="1" u="none" dirty="0">
              <a:solidFill>
                <a:srgbClr val="1836B2"/>
              </a:solidFill>
              <a:latin typeface="Cabin Semi-Bold"/>
              <a:ea typeface="Cabin Semi-Bold"/>
              <a:cs typeface="Cabin Semi-Bold"/>
              <a:sym typeface="Cabin Semi-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3741037" y="-1217562"/>
            <a:ext cx="9852713" cy="11676274"/>
            <a:chOff x="0" y="0"/>
            <a:chExt cx="13136951" cy="15568366"/>
          </a:xfrm>
        </p:grpSpPr>
        <p:sp>
          <p:nvSpPr>
            <p:cNvPr id="4" name="Freeform 4"/>
            <p:cNvSpPr/>
            <p:nvPr/>
          </p:nvSpPr>
          <p:spPr>
            <a:xfrm flipV="1">
              <a:off x="0" y="0"/>
              <a:ext cx="10199044" cy="5823319"/>
            </a:xfrm>
            <a:custGeom>
              <a:avLst/>
              <a:gdLst/>
              <a:ahLst/>
              <a:cxnLst/>
              <a:rect l="l" t="t" r="r" b="b"/>
              <a:pathLst>
                <a:path w="10199044" h="5823319">
                  <a:moveTo>
                    <a:pt x="0" y="5823319"/>
                  </a:moveTo>
                  <a:lnTo>
                    <a:pt x="10199044" y="5823319"/>
                  </a:lnTo>
                  <a:lnTo>
                    <a:pt x="10199044" y="0"/>
                  </a:lnTo>
                  <a:lnTo>
                    <a:pt x="0" y="0"/>
                  </a:lnTo>
                  <a:lnTo>
                    <a:pt x="0" y="58233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1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5"/>
            <p:cNvGrpSpPr/>
            <p:nvPr/>
          </p:nvGrpSpPr>
          <p:grpSpPr>
            <a:xfrm rot="-10800000">
              <a:off x="2115666" y="3513875"/>
              <a:ext cx="11021285" cy="12054491"/>
              <a:chOff x="0" y="0"/>
              <a:chExt cx="4911651" cy="5372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911651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4911651" h="5372100">
                    <a:moveTo>
                      <a:pt x="3360981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3360981" y="5372100"/>
                    </a:lnTo>
                    <a:lnTo>
                      <a:pt x="4911651" y="2686050"/>
                    </a:lnTo>
                    <a:lnTo>
                      <a:pt x="3360981" y="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466268"/>
              </p:ext>
            </p:extLst>
          </p:nvPr>
        </p:nvGraphicFramePr>
        <p:xfrm>
          <a:off x="2903743" y="2598649"/>
          <a:ext cx="11967313" cy="6765086"/>
        </p:xfrm>
        <a:graphic>
          <a:graphicData uri="http://schemas.openxmlformats.org/drawingml/2006/table">
            <a:tbl>
              <a:tblPr/>
              <a:tblGrid>
                <a:gridCol w="600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0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90625">
                <a:tc>
                  <a:txBody>
                    <a:bodyPr/>
                    <a:lstStyle/>
                    <a:p>
                      <a:pPr algn="l">
                        <a:lnSpc>
                          <a:spcPts val="5320"/>
                        </a:lnSpc>
                        <a:defRPr/>
                      </a:pP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</a:t>
                      </a: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. </a:t>
                      </a:r>
                      <a:r>
                        <a:rPr lang="en-US" sz="3800" b="1" u="sng" dirty="0" err="1">
                          <a:solidFill>
                            <a:schemeClr val="tx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Wordpress</a:t>
                      </a: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</a:t>
                      </a:r>
                      <a:r>
                        <a:rPr lang="en-US" sz="3800" b="1" u="sng" dirty="0" err="1">
                          <a:solidFill>
                            <a:schemeClr val="tx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là</a:t>
                      </a: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</a:t>
                      </a:r>
                      <a:r>
                        <a:rPr lang="en-US" sz="3800" b="1" u="sng" dirty="0" err="1">
                          <a:solidFill>
                            <a:schemeClr val="tx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gì</a:t>
                      </a: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?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320"/>
                        </a:lnSpc>
                        <a:defRPr/>
                      </a:pPr>
                      <a:r>
                        <a:rPr lang="en-US" sz="3800" b="1" u="none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II.</a:t>
                      </a:r>
                      <a:r>
                        <a:rPr lang="en-US" sz="3800" b="1" u="sng">
                          <a:solidFill>
                            <a:schemeClr val="tx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Lịch sử hình thành</a:t>
                      </a:r>
                      <a:endParaRPr 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3650">
                <a:tc>
                  <a:txBody>
                    <a:bodyPr/>
                    <a:lstStyle/>
                    <a:p>
                      <a:pPr algn="l">
                        <a:lnSpc>
                          <a:spcPts val="5320"/>
                        </a:lnSpc>
                        <a:defRPr/>
                      </a:pP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III. </a:t>
                      </a:r>
                      <a:r>
                        <a:rPr lang="en-US" sz="3800" b="1" u="sng" dirty="0" err="1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Mức</a:t>
                      </a: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 </a:t>
                      </a:r>
                      <a:r>
                        <a:rPr lang="en-US" sz="3800" b="1" u="sng" dirty="0" err="1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độ</a:t>
                      </a: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 </a:t>
                      </a:r>
                      <a:r>
                        <a:rPr lang="en-US" sz="3800" b="1" u="sng" dirty="0" err="1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phổ</a:t>
                      </a: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 </a:t>
                      </a:r>
                      <a:r>
                        <a:rPr lang="en-US" sz="3800" b="1" u="sng" dirty="0" err="1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biến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320"/>
                        </a:lnSpc>
                        <a:defRPr/>
                      </a:pPr>
                      <a:r>
                        <a:rPr lang="en-US" sz="3800" b="1" u="sng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IV. Phân biệt Wordpress.com &amp; Wordpress.org </a:t>
                      </a:r>
                      <a:endParaRPr 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8543">
                <a:tc>
                  <a:txBody>
                    <a:bodyPr/>
                    <a:lstStyle/>
                    <a:p>
                      <a:pPr algn="l">
                        <a:lnSpc>
                          <a:spcPts val="5320"/>
                        </a:lnSpc>
                        <a:defRPr/>
                      </a:pPr>
                      <a:r>
                        <a:rPr lang="en-US" sz="3800" b="1" u="sng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V. Ưu điểm và nhược điểm </a:t>
                      </a:r>
                      <a:endParaRPr 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320"/>
                        </a:lnSpc>
                        <a:defRPr/>
                      </a:pPr>
                      <a:r>
                        <a:rPr lang="en-US" sz="3800" b="1" u="sng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VI. Thành phần của một website wordpress</a:t>
                      </a:r>
                      <a:endParaRPr 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2268">
                <a:tc gridSpan="2"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VII. Tính </a:t>
                      </a:r>
                      <a:r>
                        <a:rPr lang="en-US" sz="3800" b="1" u="sng" dirty="0" err="1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năng</a:t>
                      </a: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 </a:t>
                      </a:r>
                      <a:r>
                        <a:rPr lang="en-US" sz="3800" b="1" u="sng" dirty="0" err="1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nổi</a:t>
                      </a: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 </a:t>
                      </a:r>
                      <a:r>
                        <a:rPr lang="en-US" sz="3800" b="1" u="sng" dirty="0" err="1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bật</a:t>
                      </a: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 </a:t>
                      </a:r>
                      <a:r>
                        <a:rPr lang="en-US" sz="3800" b="1" u="sng" dirty="0" err="1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của</a:t>
                      </a:r>
                      <a:r>
                        <a:rPr lang="en-US" sz="3800" b="1" u="sng" dirty="0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 </a:t>
                      </a:r>
                      <a:r>
                        <a:rPr lang="en-US" sz="3800" b="1" u="sng" dirty="0" err="1">
                          <a:solidFill>
                            <a:schemeClr val="tx1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Wordpress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 b="1" u="sng">
                          <a:solidFill>
                            <a:srgbClr val="000000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VII. Tính năng nổi bật của Wordpress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00000"/>
              </a:srgbClr>
            </a:gs>
            <a:gs pos="100000">
              <a:srgbClr val="FFA9F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750060"/>
            <a:ext cx="5316604" cy="9426462"/>
          </a:xfrm>
          <a:custGeom>
            <a:avLst/>
            <a:gdLst/>
            <a:ahLst/>
            <a:cxnLst/>
            <a:rect l="l" t="t" r="r" b="b"/>
            <a:pathLst>
              <a:path w="5316604" h="9426462">
                <a:moveTo>
                  <a:pt x="0" y="0"/>
                </a:moveTo>
                <a:lnTo>
                  <a:pt x="5316604" y="0"/>
                </a:lnTo>
                <a:lnTo>
                  <a:pt x="5316604" y="9426462"/>
                </a:lnTo>
                <a:lnTo>
                  <a:pt x="0" y="9426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651" r="-3865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-1891191" y="-564082"/>
            <a:ext cx="7207796" cy="3185564"/>
            <a:chOff x="0" y="0"/>
            <a:chExt cx="12155147" cy="5372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55147" cy="5372100"/>
            </a:xfrm>
            <a:custGeom>
              <a:avLst/>
              <a:gdLst/>
              <a:ahLst/>
              <a:cxnLst/>
              <a:rect l="l" t="t" r="r" b="b"/>
              <a:pathLst>
                <a:path w="12155147" h="5372100">
                  <a:moveTo>
                    <a:pt x="10604477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10604477" y="5372100"/>
                  </a:lnTo>
                  <a:lnTo>
                    <a:pt x="12155147" y="2686050"/>
                  </a:lnTo>
                  <a:lnTo>
                    <a:pt x="10604477" y="0"/>
                  </a:lnTo>
                  <a:close/>
                </a:path>
              </a:pathLst>
            </a:custGeom>
            <a:solidFill>
              <a:srgbClr val="E1A8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46277" y="1750060"/>
            <a:ext cx="9665133" cy="6575426"/>
            <a:chOff x="164734" y="271876"/>
            <a:chExt cx="13644869" cy="8767234"/>
          </a:xfrm>
        </p:grpSpPr>
        <p:sp>
          <p:nvSpPr>
            <p:cNvPr id="7" name="TextBox 7"/>
            <p:cNvSpPr txBox="1"/>
            <p:nvPr/>
          </p:nvSpPr>
          <p:spPr>
            <a:xfrm>
              <a:off x="181284" y="271876"/>
              <a:ext cx="13628319" cy="1171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600"/>
                </a:lnSpc>
                <a:spcBef>
                  <a:spcPct val="0"/>
                </a:spcBef>
              </a:pPr>
              <a:r>
                <a:rPr lang="en-US" sz="6000" b="1" dirty="0">
                  <a:solidFill>
                    <a:srgbClr val="1836B2"/>
                  </a:solidFill>
                  <a:latin typeface="Cabin Semi-Bold"/>
                  <a:ea typeface="Cabin Semi-Bold"/>
                  <a:cs typeface="Cabin Semi-Bold"/>
                  <a:sym typeface="Cabin Semi-Bold"/>
                </a:rPr>
                <a:t>I. </a:t>
              </a:r>
              <a:r>
                <a:rPr lang="en-US" sz="6000" b="1" dirty="0" err="1">
                  <a:solidFill>
                    <a:srgbClr val="1836B2"/>
                  </a:solidFill>
                  <a:latin typeface="Cabin Semi-Bold"/>
                  <a:ea typeface="Cabin Semi-Bold"/>
                  <a:cs typeface="Cabin Semi-Bold"/>
                  <a:sym typeface="Cabin Semi-Bold"/>
                </a:rPr>
                <a:t>Wordpress</a:t>
              </a:r>
              <a:r>
                <a:rPr lang="en-US" sz="6000" b="1" dirty="0">
                  <a:solidFill>
                    <a:srgbClr val="1836B2"/>
                  </a:solidFill>
                  <a:latin typeface="Cabin Semi-Bold"/>
                  <a:ea typeface="Cabin Semi-Bold"/>
                  <a:cs typeface="Cabin Semi-Bold"/>
                  <a:sym typeface="Cabin Semi-Bold"/>
                </a:rPr>
                <a:t> </a:t>
              </a:r>
              <a:r>
                <a:rPr lang="en-US" sz="6000" b="1" dirty="0" err="1">
                  <a:solidFill>
                    <a:srgbClr val="1836B2"/>
                  </a:solidFill>
                  <a:latin typeface="Cabin Semi-Bold"/>
                  <a:ea typeface="Cabin Semi-Bold"/>
                  <a:cs typeface="Cabin Semi-Bold"/>
                  <a:sym typeface="Cabin Semi-Bold"/>
                </a:rPr>
                <a:t>là</a:t>
              </a:r>
              <a:r>
                <a:rPr lang="en-US" sz="6000" b="1" dirty="0">
                  <a:solidFill>
                    <a:srgbClr val="1836B2"/>
                  </a:solidFill>
                  <a:latin typeface="Cabin Semi-Bold"/>
                  <a:ea typeface="Cabin Semi-Bold"/>
                  <a:cs typeface="Cabin Semi-Bold"/>
                  <a:sym typeface="Cabin Semi-Bold"/>
                </a:rPr>
                <a:t> </a:t>
              </a:r>
              <a:r>
                <a:rPr lang="en-US" sz="6000" b="1" dirty="0" err="1">
                  <a:solidFill>
                    <a:srgbClr val="1836B2"/>
                  </a:solidFill>
                  <a:latin typeface="Cabin Semi-Bold"/>
                  <a:ea typeface="Cabin Semi-Bold"/>
                  <a:cs typeface="Cabin Semi-Bold"/>
                  <a:sym typeface="Cabin Semi-Bold"/>
                </a:rPr>
                <a:t>gì</a:t>
              </a:r>
              <a:r>
                <a:rPr lang="en-US" sz="6000" b="1" dirty="0">
                  <a:solidFill>
                    <a:srgbClr val="1836B2"/>
                  </a:solidFill>
                  <a:latin typeface="Cabin Semi-Bold"/>
                  <a:ea typeface="Cabin Semi-Bold"/>
                  <a:cs typeface="Cabin Semi-Bold"/>
                  <a:sym typeface="Cabin Semi-Bold"/>
                </a:rPr>
                <a:t> 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4734" y="1748463"/>
              <a:ext cx="13628319" cy="72906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98829" lvl="1" indent="-399415" algn="l">
                <a:lnSpc>
                  <a:spcPts val="4809"/>
                </a:lnSpc>
                <a:buFont typeface="Arial"/>
                <a:buChar char="•"/>
              </a:pP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Là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một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công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cụ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tạo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blog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mã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nguồn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mở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hoàn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toàn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miễn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phí</a:t>
              </a:r>
              <a:endParaRPr lang="en-US" sz="3699" spc="-73" dirty="0">
                <a:solidFill>
                  <a:srgbClr val="000000"/>
                </a:solidFill>
                <a:latin typeface="Cabin Medium"/>
                <a:ea typeface="Cabin Medium"/>
                <a:cs typeface="Cabin Medium"/>
                <a:sym typeface="Cabin Medium"/>
              </a:endParaRPr>
            </a:p>
            <a:p>
              <a:pPr marL="798829" lvl="1" indent="-399415" algn="l">
                <a:lnSpc>
                  <a:spcPts val="4809"/>
                </a:lnSpc>
                <a:buFont typeface="Arial"/>
                <a:buChar char="•"/>
              </a:pP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Là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CMS (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Hệ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thống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quản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lý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nội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dung)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dựa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trên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nền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tảng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PHP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và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MySQL</a:t>
              </a:r>
            </a:p>
            <a:p>
              <a:pPr marL="798829" lvl="1" indent="-399415" algn="l">
                <a:lnSpc>
                  <a:spcPts val="4809"/>
                </a:lnSpc>
                <a:buFont typeface="Arial"/>
                <a:buChar char="•"/>
              </a:pP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Chạy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trên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một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dịch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vụ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máy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chủ</a:t>
              </a:r>
              <a:endParaRPr lang="en-US" sz="3699" spc="-73" dirty="0">
                <a:solidFill>
                  <a:srgbClr val="000000"/>
                </a:solidFill>
                <a:latin typeface="Cabin Medium"/>
                <a:ea typeface="Cabin Medium"/>
                <a:cs typeface="Cabin Medium"/>
                <a:sym typeface="Cabin Medium"/>
              </a:endParaRPr>
            </a:p>
            <a:p>
              <a:pPr marL="798829" lvl="1" indent="-399415" algn="l">
                <a:lnSpc>
                  <a:spcPts val="4809"/>
                </a:lnSpc>
                <a:buFont typeface="Arial"/>
                <a:buChar char="•"/>
              </a:pP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WordPress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là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hậu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duệ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chính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thức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của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b2/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cafelog</a:t>
              </a:r>
              <a:endParaRPr lang="en-US" sz="3699" spc="-73" dirty="0">
                <a:solidFill>
                  <a:srgbClr val="000000"/>
                </a:solidFill>
                <a:latin typeface="Cabin Medium"/>
                <a:ea typeface="Cabin Medium"/>
                <a:cs typeface="Cabin Medium"/>
                <a:sym typeface="Cabin Medium"/>
              </a:endParaRPr>
            </a:p>
            <a:p>
              <a:pPr marL="798829" lvl="1" indent="-399415" algn="l">
                <a:lnSpc>
                  <a:spcPts val="4809"/>
                </a:lnSpc>
                <a:buFont typeface="Arial"/>
                <a:buChar char="•"/>
              </a:pP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Wordpress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có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hai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dạng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: Wordpress.com </a:t>
              </a:r>
              <a:r>
                <a:rPr lang="en-US" sz="3699" spc="-73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và</a:t>
              </a:r>
              <a:r>
                <a:rPr lang="en-US" sz="3699" spc="-73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Wordpress.org</a:t>
              </a:r>
            </a:p>
            <a:p>
              <a:pPr marL="0" lvl="0" indent="0" algn="l">
                <a:lnSpc>
                  <a:spcPts val="4809"/>
                </a:lnSpc>
                <a:spcBef>
                  <a:spcPct val="0"/>
                </a:spcBef>
              </a:pPr>
              <a:endParaRPr lang="en-US" sz="3699" spc="-73" dirty="0">
                <a:solidFill>
                  <a:srgbClr val="000000"/>
                </a:solidFill>
                <a:latin typeface="Cabin Medium"/>
                <a:ea typeface="Cabin Medium"/>
                <a:cs typeface="Cabin Medium"/>
                <a:sym typeface="Cabin Medium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3865" y="4226019"/>
            <a:ext cx="15911668" cy="0"/>
          </a:xfrm>
          <a:prstGeom prst="line">
            <a:avLst/>
          </a:prstGeom>
          <a:ln w="47625" cap="rnd">
            <a:solidFill>
              <a:srgbClr val="86C7ED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659519"/>
            <a:ext cx="9086762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II. </a:t>
            </a:r>
            <a:r>
              <a:rPr lang="en-US" sz="6000" b="1" dirty="0" err="1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Lịch</a:t>
            </a:r>
            <a:r>
              <a:rPr lang="en-US" sz="6000" b="1" dirty="0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 </a:t>
            </a:r>
            <a:r>
              <a:rPr lang="en-US" sz="6000" b="1" dirty="0" err="1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sử</a:t>
            </a:r>
            <a:r>
              <a:rPr lang="en-US" sz="6000" b="1" dirty="0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 </a:t>
            </a:r>
            <a:r>
              <a:rPr lang="en-US" sz="6000" b="1" dirty="0" err="1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hình</a:t>
            </a:r>
            <a:r>
              <a:rPr lang="en-US" sz="6000" b="1" dirty="0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 </a:t>
            </a:r>
            <a:r>
              <a:rPr lang="en-US" sz="6000" b="1" dirty="0" err="1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thành</a:t>
            </a:r>
            <a:r>
              <a:rPr lang="en-US" sz="6000" b="1" dirty="0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38506" y="4776554"/>
            <a:ext cx="5014505" cy="2520742"/>
            <a:chOff x="0" y="0"/>
            <a:chExt cx="6686007" cy="3360990"/>
          </a:xfrm>
        </p:grpSpPr>
        <p:sp>
          <p:nvSpPr>
            <p:cNvPr id="5" name="TextBox 5"/>
            <p:cNvSpPr txBox="1"/>
            <p:nvPr/>
          </p:nvSpPr>
          <p:spPr>
            <a:xfrm>
              <a:off x="0" y="1809261"/>
              <a:ext cx="6686007" cy="15517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60"/>
                </a:lnSpc>
                <a:spcBef>
                  <a:spcPct val="0"/>
                </a:spcBef>
              </a:pPr>
              <a:r>
                <a:rPr lang="en-US" sz="3400" spc="17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Sự</a:t>
              </a:r>
              <a:r>
                <a:rPr lang="en-US" sz="3400" spc="17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400" spc="17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kế</a:t>
              </a:r>
              <a:r>
                <a:rPr lang="en-US" sz="3400" spc="17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400" spc="17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thừa</a:t>
              </a:r>
              <a:r>
                <a:rPr lang="en-US" sz="3400" spc="17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400" spc="17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chính</a:t>
              </a:r>
              <a:r>
                <a:rPr lang="en-US" sz="3400" spc="17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400" spc="17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thức</a:t>
              </a:r>
              <a:r>
                <a:rPr lang="en-US" sz="3400" spc="17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400" spc="17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từ</a:t>
              </a:r>
              <a:r>
                <a:rPr lang="en-US" sz="3400" spc="17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400" spc="17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một</a:t>
              </a:r>
              <a:r>
                <a:rPr lang="en-US" sz="3400" spc="17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400" spc="17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công</a:t>
              </a:r>
              <a:r>
                <a:rPr lang="en-US" sz="3400" spc="17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400" spc="17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cụ</a:t>
              </a:r>
              <a:r>
                <a:rPr lang="en-US" sz="3400" spc="17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400" spc="17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viết</a:t>
              </a:r>
              <a:r>
                <a:rPr lang="en-US" sz="3400" spc="17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blog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21278" y="-28575"/>
              <a:ext cx="4243452" cy="15424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80"/>
                </a:lnSpc>
                <a:spcBef>
                  <a:spcPct val="0"/>
                </a:spcBef>
              </a:pPr>
              <a:r>
                <a:rPr lang="en-US" sz="3600" b="1" spc="-72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Wordpress.org &amp; Wordpress.com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53011" y="4776554"/>
            <a:ext cx="5510749" cy="3734364"/>
            <a:chOff x="0" y="0"/>
            <a:chExt cx="7347665" cy="4979152"/>
          </a:xfrm>
        </p:grpSpPr>
        <p:sp>
          <p:nvSpPr>
            <p:cNvPr id="8" name="TextBox 8"/>
            <p:cNvSpPr txBox="1"/>
            <p:nvPr/>
          </p:nvSpPr>
          <p:spPr>
            <a:xfrm>
              <a:off x="0" y="1827224"/>
              <a:ext cx="7347665" cy="3151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59"/>
                </a:lnSpc>
                <a:spcBef>
                  <a:spcPct val="0"/>
                </a:spcBef>
              </a:pP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Phát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triển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bởi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lập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trình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viên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người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Pháp Michel Valdrighi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có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tên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là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b2/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cafelog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,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ra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mắt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lần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đầu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tiên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vào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năm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2001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27439" y="-28575"/>
              <a:ext cx="4148282" cy="755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80"/>
                </a:lnSpc>
                <a:spcBef>
                  <a:spcPct val="0"/>
                </a:spcBef>
              </a:pPr>
              <a:r>
                <a:rPr lang="en-US" sz="3600" b="1" spc="-72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Phát triển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894375" y="6036925"/>
            <a:ext cx="3364925" cy="981204"/>
            <a:chOff x="0" y="0"/>
            <a:chExt cx="4486566" cy="1308272"/>
          </a:xfrm>
        </p:grpSpPr>
        <p:sp>
          <p:nvSpPr>
            <p:cNvPr id="11" name="TextBox 11"/>
            <p:cNvSpPr txBox="1"/>
            <p:nvPr/>
          </p:nvSpPr>
          <p:spPr>
            <a:xfrm>
              <a:off x="0" y="912032"/>
              <a:ext cx="4486566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4486566" cy="522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663760" y="4776554"/>
            <a:ext cx="5379657" cy="4323627"/>
            <a:chOff x="0" y="0"/>
            <a:chExt cx="7172875" cy="5764837"/>
          </a:xfrm>
        </p:grpSpPr>
        <p:sp>
          <p:nvSpPr>
            <p:cNvPr id="14" name="TextBox 14"/>
            <p:cNvSpPr txBox="1"/>
            <p:nvPr/>
          </p:nvSpPr>
          <p:spPr>
            <a:xfrm>
              <a:off x="796129" y="-28575"/>
              <a:ext cx="5580618" cy="755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80"/>
                </a:lnSpc>
                <a:spcBef>
                  <a:spcPct val="0"/>
                </a:spcBef>
              </a:pPr>
              <a:r>
                <a:rPr lang="en-US" sz="3600" b="1" spc="-72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Wordpress</a:t>
              </a:r>
              <a:r>
                <a:rPr lang="en-US" sz="3600" b="1" spc="-72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600" b="1" spc="-72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phát</a:t>
              </a:r>
              <a:r>
                <a:rPr lang="en-US" sz="3600" b="1" spc="-72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600" b="1" spc="-72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hành</a:t>
              </a:r>
              <a:endParaRPr lang="en-US" sz="3600" b="1" spc="-72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812808"/>
              <a:ext cx="7172875" cy="3952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59"/>
                </a:lnSpc>
                <a:spcBef>
                  <a:spcPct val="0"/>
                </a:spcBef>
              </a:pP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Đến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ngày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27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tháng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5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năm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2003,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Wordpress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mới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chính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thức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được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phát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hành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phiên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bản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đâu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tiên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bởi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Matt Mullenweg </a:t>
              </a:r>
              <a:r>
                <a:rPr lang="en-US" sz="3399" spc="16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và</a:t>
              </a:r>
              <a:r>
                <a:rPr lang="en-US" sz="3399" spc="16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Mike Little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773878" y="4094593"/>
            <a:ext cx="239988" cy="262851"/>
          </a:xfrm>
          <a:prstGeom prst="rect">
            <a:avLst/>
          </a:prstGeom>
          <a:solidFill>
            <a:srgbClr val="A066CB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6033017" y="4094593"/>
            <a:ext cx="239988" cy="262851"/>
          </a:xfrm>
          <a:prstGeom prst="rect">
            <a:avLst/>
          </a:prstGeom>
          <a:solidFill>
            <a:srgbClr val="A066CB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11359208" y="4094593"/>
            <a:ext cx="239988" cy="262851"/>
          </a:xfrm>
          <a:prstGeom prst="rect">
            <a:avLst/>
          </a:prstGeom>
          <a:solidFill>
            <a:srgbClr val="A066CB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16685546" y="4094593"/>
            <a:ext cx="239988" cy="262851"/>
          </a:xfrm>
          <a:prstGeom prst="rect">
            <a:avLst/>
          </a:prstGeom>
          <a:solidFill>
            <a:srgbClr val="A066CB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0" y="-446411"/>
            <a:ext cx="13497585" cy="791631"/>
          </a:xfrm>
          <a:prstGeom prst="rect">
            <a:avLst/>
          </a:prstGeom>
          <a:solidFill>
            <a:srgbClr val="E1A8F0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flipV="1">
            <a:off x="11599196" y="-1270647"/>
            <a:ext cx="5660104" cy="3231734"/>
          </a:xfrm>
          <a:custGeom>
            <a:avLst/>
            <a:gdLst/>
            <a:ahLst/>
            <a:cxnLst/>
            <a:rect l="l" t="t" r="r" b="b"/>
            <a:pathLst>
              <a:path w="5660104" h="3231734">
                <a:moveTo>
                  <a:pt x="0" y="3231733"/>
                </a:moveTo>
                <a:lnTo>
                  <a:pt x="5660104" y="3231733"/>
                </a:lnTo>
                <a:lnTo>
                  <a:pt x="5660104" y="0"/>
                </a:lnTo>
                <a:lnTo>
                  <a:pt x="0" y="0"/>
                </a:lnTo>
                <a:lnTo>
                  <a:pt x="0" y="323173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15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00000"/>
              </a:srgbClr>
            </a:gs>
            <a:gs pos="100000">
              <a:srgbClr val="FFA9F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0412" y="1581154"/>
            <a:ext cx="8684790" cy="9426462"/>
          </a:xfrm>
          <a:custGeom>
            <a:avLst/>
            <a:gdLst/>
            <a:ahLst/>
            <a:cxnLst/>
            <a:rect l="l" t="t" r="r" b="b"/>
            <a:pathLst>
              <a:path w="8684790" h="9426462">
                <a:moveTo>
                  <a:pt x="0" y="0"/>
                </a:moveTo>
                <a:lnTo>
                  <a:pt x="8684789" y="0"/>
                </a:lnTo>
                <a:lnTo>
                  <a:pt x="8684789" y="9426462"/>
                </a:lnTo>
                <a:lnTo>
                  <a:pt x="0" y="9426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41" r="-130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2365479" y="-867040"/>
            <a:ext cx="7207796" cy="3185564"/>
            <a:chOff x="0" y="0"/>
            <a:chExt cx="12155147" cy="5372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55147" cy="5372100"/>
            </a:xfrm>
            <a:custGeom>
              <a:avLst/>
              <a:gdLst/>
              <a:ahLst/>
              <a:cxnLst/>
              <a:rect l="l" t="t" r="r" b="b"/>
              <a:pathLst>
                <a:path w="12155147" h="5372100">
                  <a:moveTo>
                    <a:pt x="10604477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10604477" y="5372100"/>
                  </a:lnTo>
                  <a:lnTo>
                    <a:pt x="12155147" y="2686050"/>
                  </a:lnTo>
                  <a:lnTo>
                    <a:pt x="10604477" y="0"/>
                  </a:lnTo>
                  <a:close/>
                </a:path>
              </a:pathLst>
            </a:custGeom>
            <a:solidFill>
              <a:srgbClr val="E1A8F0"/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329548" y="6463291"/>
          <a:ext cx="3352190" cy="2019300"/>
        </p:xfrm>
        <a:graphic>
          <a:graphicData uri="http://schemas.openxmlformats.org/drawingml/2006/table">
            <a:tbl>
              <a:tblPr/>
              <a:tblGrid>
                <a:gridCol w="335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9300">
                <a:tc>
                  <a:txBody>
                    <a:bodyPr/>
                    <a:lstStyle/>
                    <a:p>
                      <a:pPr marL="388620" lvl="1" indent="-194310" algn="l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>
            <a:off x="903952" y="1981836"/>
            <a:ext cx="10221239" cy="6132708"/>
            <a:chOff x="0" y="47625"/>
            <a:chExt cx="13628319" cy="8176943"/>
          </a:xfrm>
        </p:grpSpPr>
        <p:sp>
          <p:nvSpPr>
            <p:cNvPr id="7" name="TextBox 7"/>
            <p:cNvSpPr txBox="1"/>
            <p:nvPr/>
          </p:nvSpPr>
          <p:spPr>
            <a:xfrm>
              <a:off x="0" y="47625"/>
              <a:ext cx="13628319" cy="1171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6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1836B2"/>
                  </a:solidFill>
                  <a:latin typeface="Cabin Semi-Bold"/>
                  <a:ea typeface="Cabin Semi-Bold"/>
                  <a:cs typeface="Cabin Semi-Bold"/>
                  <a:sym typeface="Cabin Semi-Bold"/>
                </a:rPr>
                <a:t>III. Mức độ phổ biến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258662"/>
              <a:ext cx="12184991" cy="5965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44358" lvl="1" indent="-422179" algn="l">
                <a:lnSpc>
                  <a:spcPts val="5084"/>
                </a:lnSpc>
                <a:buFont typeface="Arial"/>
                <a:buChar char="•"/>
              </a:pPr>
              <a:r>
                <a:rPr lang="en-US" sz="3910" spc="-78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910" spc="-78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Hơn</a:t>
              </a:r>
              <a:r>
                <a:rPr lang="en-US" sz="3910" spc="-78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72 </a:t>
              </a:r>
              <a:r>
                <a:rPr lang="en-US" sz="3910" spc="-78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triệu</a:t>
              </a:r>
              <a:r>
                <a:rPr lang="en-US" sz="3910" spc="-78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website </a:t>
              </a:r>
              <a:r>
                <a:rPr lang="en-US" sz="3910" spc="-78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đang</a:t>
              </a:r>
              <a:r>
                <a:rPr lang="en-US" sz="3910" spc="-78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910" spc="-78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sử</a:t>
              </a:r>
              <a:r>
                <a:rPr lang="en-US" sz="3910" spc="-78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910" spc="-78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dụng</a:t>
              </a:r>
              <a:r>
                <a:rPr lang="en-US" sz="3910" spc="-78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910" spc="-78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Wordpress</a:t>
              </a:r>
              <a:endParaRPr lang="en-US" sz="3910" spc="-78" dirty="0">
                <a:solidFill>
                  <a:srgbClr val="000000"/>
                </a:solidFill>
                <a:latin typeface="Cabin Medium"/>
                <a:ea typeface="Cabin Medium"/>
                <a:cs typeface="Cabin Medium"/>
                <a:sym typeface="Cabin Medium"/>
              </a:endParaRPr>
            </a:p>
            <a:p>
              <a:pPr marL="822767" lvl="1" indent="-411383" algn="l">
                <a:lnSpc>
                  <a:spcPts val="4954"/>
                </a:lnSpc>
                <a:buFont typeface="Arial"/>
                <a:buChar char="•"/>
              </a:pP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394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triệu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người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xem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và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14.3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tỉ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trang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mỗi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tháng</a:t>
              </a:r>
              <a:endParaRPr lang="en-US" sz="3810" spc="-76" dirty="0">
                <a:solidFill>
                  <a:srgbClr val="000000"/>
                </a:solidFill>
                <a:latin typeface="Cabin Medium"/>
                <a:ea typeface="Cabin Medium"/>
                <a:cs typeface="Cabin Medium"/>
                <a:sym typeface="Cabin Medium"/>
              </a:endParaRPr>
            </a:p>
            <a:p>
              <a:pPr marL="822767" lvl="1" indent="-411383" algn="l">
                <a:lnSpc>
                  <a:spcPts val="4954"/>
                </a:lnSpc>
                <a:buFont typeface="Arial"/>
                <a:buChar char="•"/>
              </a:pP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36.3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triệu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bài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mới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và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63.1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triệu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nhận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xét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mới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mỗi</a:t>
              </a:r>
              <a:r>
                <a:rPr lang="en-US" sz="3810" spc="-76" dirty="0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 </a:t>
              </a:r>
              <a:r>
                <a:rPr lang="en-US" sz="3810" spc="-76" dirty="0" err="1">
                  <a:solidFill>
                    <a:srgbClr val="000000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tháng</a:t>
              </a:r>
              <a:endParaRPr lang="en-US" sz="3810" spc="-76" dirty="0">
                <a:solidFill>
                  <a:srgbClr val="000000"/>
                </a:solidFill>
                <a:latin typeface="Cabin Medium"/>
                <a:ea typeface="Cabin Medium"/>
                <a:cs typeface="Cabin Medium"/>
                <a:sym typeface="Cabin Medium"/>
              </a:endParaRPr>
            </a:p>
            <a:p>
              <a:pPr marL="0" lvl="0" indent="0" algn="l">
                <a:lnSpc>
                  <a:spcPts val="4954"/>
                </a:lnSpc>
                <a:spcBef>
                  <a:spcPct val="0"/>
                </a:spcBef>
              </a:pPr>
              <a:endParaRPr lang="en-US" sz="3810" spc="-76" dirty="0">
                <a:solidFill>
                  <a:srgbClr val="000000"/>
                </a:solidFill>
                <a:latin typeface="Cabin Medium"/>
                <a:ea typeface="Cabin Medium"/>
                <a:cs typeface="Cabin Medium"/>
                <a:sym typeface="Cabin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8969" y="3419834"/>
            <a:ext cx="2429727" cy="2030432"/>
          </a:xfrm>
          <a:custGeom>
            <a:avLst/>
            <a:gdLst/>
            <a:ahLst/>
            <a:cxnLst/>
            <a:rect l="l" t="t" r="r" b="b"/>
            <a:pathLst>
              <a:path w="2429727" h="2030432">
                <a:moveTo>
                  <a:pt x="0" y="0"/>
                </a:moveTo>
                <a:lnTo>
                  <a:pt x="2429728" y="0"/>
                </a:lnTo>
                <a:lnTo>
                  <a:pt x="2429728" y="2030432"/>
                </a:lnTo>
                <a:lnTo>
                  <a:pt x="0" y="203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32" b="-98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621647" y="3419834"/>
            <a:ext cx="2429727" cy="2030432"/>
          </a:xfrm>
          <a:custGeom>
            <a:avLst/>
            <a:gdLst/>
            <a:ahLst/>
            <a:cxnLst/>
            <a:rect l="l" t="t" r="r" b="b"/>
            <a:pathLst>
              <a:path w="2429727" h="2030432">
                <a:moveTo>
                  <a:pt x="0" y="0"/>
                </a:moveTo>
                <a:lnTo>
                  <a:pt x="2429727" y="0"/>
                </a:lnTo>
                <a:lnTo>
                  <a:pt x="2429727" y="2030432"/>
                </a:lnTo>
                <a:lnTo>
                  <a:pt x="0" y="2030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371" r="-243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794324" y="3419834"/>
            <a:ext cx="2429727" cy="2030432"/>
          </a:xfrm>
          <a:custGeom>
            <a:avLst/>
            <a:gdLst/>
            <a:ahLst/>
            <a:cxnLst/>
            <a:rect l="l" t="t" r="r" b="b"/>
            <a:pathLst>
              <a:path w="2429727" h="2030432">
                <a:moveTo>
                  <a:pt x="0" y="0"/>
                </a:moveTo>
                <a:lnTo>
                  <a:pt x="2429727" y="0"/>
                </a:lnTo>
                <a:lnTo>
                  <a:pt x="2429727" y="2030432"/>
                </a:lnTo>
                <a:lnTo>
                  <a:pt x="0" y="203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473" b="-401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967001" y="3419834"/>
            <a:ext cx="2429727" cy="2030432"/>
          </a:xfrm>
          <a:custGeom>
            <a:avLst/>
            <a:gdLst/>
            <a:ahLst/>
            <a:cxnLst/>
            <a:rect l="l" t="t" r="r" b="b"/>
            <a:pathLst>
              <a:path w="2429727" h="2030432">
                <a:moveTo>
                  <a:pt x="0" y="0"/>
                </a:moveTo>
                <a:lnTo>
                  <a:pt x="2429727" y="0"/>
                </a:lnTo>
                <a:lnTo>
                  <a:pt x="2429727" y="2030432"/>
                </a:lnTo>
                <a:lnTo>
                  <a:pt x="0" y="2030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832" b="-98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139678" y="3460035"/>
            <a:ext cx="2736736" cy="2030432"/>
          </a:xfrm>
          <a:custGeom>
            <a:avLst/>
            <a:gdLst/>
            <a:ahLst/>
            <a:cxnLst/>
            <a:rect l="l" t="t" r="r" b="b"/>
            <a:pathLst>
              <a:path w="2736736" h="2030432">
                <a:moveTo>
                  <a:pt x="0" y="0"/>
                </a:moveTo>
                <a:lnTo>
                  <a:pt x="2736736" y="0"/>
                </a:lnTo>
                <a:lnTo>
                  <a:pt x="2736736" y="2030432"/>
                </a:lnTo>
                <a:lnTo>
                  <a:pt x="0" y="2030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8693" b="-869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986435"/>
            <a:ext cx="16445731" cy="791631"/>
          </a:xfrm>
          <a:prstGeom prst="rect">
            <a:avLst/>
          </a:prstGeom>
          <a:solidFill>
            <a:srgbClr val="A066CB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 rot="-10800000">
            <a:off x="14141132" y="9258300"/>
            <a:ext cx="3194047" cy="4221147"/>
            <a:chOff x="0" y="0"/>
            <a:chExt cx="4064946" cy="5372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64946" cy="5372100"/>
            </a:xfrm>
            <a:custGeom>
              <a:avLst/>
              <a:gdLst/>
              <a:ahLst/>
              <a:cxnLst/>
              <a:rect l="l" t="t" r="r" b="b"/>
              <a:pathLst>
                <a:path w="4064946" h="5372100">
                  <a:moveTo>
                    <a:pt x="2514276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514276" y="5372100"/>
                  </a:lnTo>
                  <a:lnTo>
                    <a:pt x="4064946" y="2686050"/>
                  </a:lnTo>
                  <a:lnTo>
                    <a:pt x="2514276" y="0"/>
                  </a:lnTo>
                  <a:close/>
                </a:path>
              </a:pathLst>
            </a:custGeom>
            <a:solidFill>
              <a:srgbClr val="E1A8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15663004" y="9258300"/>
            <a:ext cx="3194047" cy="4221147"/>
            <a:chOff x="0" y="0"/>
            <a:chExt cx="4064946" cy="5372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64946" cy="5372100"/>
            </a:xfrm>
            <a:custGeom>
              <a:avLst/>
              <a:gdLst/>
              <a:ahLst/>
              <a:cxnLst/>
              <a:rect l="l" t="t" r="r" b="b"/>
              <a:pathLst>
                <a:path w="4064946" h="5372100">
                  <a:moveTo>
                    <a:pt x="2514276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514276" y="5372100"/>
                  </a:lnTo>
                  <a:lnTo>
                    <a:pt x="4064946" y="2686050"/>
                  </a:lnTo>
                  <a:lnTo>
                    <a:pt x="2514276" y="0"/>
                  </a:lnTo>
                  <a:close/>
                </a:path>
              </a:pathLst>
            </a:custGeom>
            <a:solidFill>
              <a:srgbClr val="86C7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48969" y="5858338"/>
            <a:ext cx="2429727" cy="2747868"/>
            <a:chOff x="0" y="0"/>
            <a:chExt cx="3239636" cy="366382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47625"/>
              <a:ext cx="3239636" cy="313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Nền tảng chia sẻ các bài nói truyền cảm hứng, giáo dục, công nghệ.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3267547"/>
              <a:ext cx="3239636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67001" y="5858338"/>
            <a:ext cx="2429727" cy="1319118"/>
            <a:chOff x="0" y="0"/>
            <a:chExt cx="3239636" cy="175882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362547"/>
              <a:ext cx="3239636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39636" cy="1226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Hãng tin tức quốc tế của Mỹ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293182" y="5858338"/>
            <a:ext cx="2429727" cy="2271618"/>
            <a:chOff x="0" y="0"/>
            <a:chExt cx="3239636" cy="302882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2632547"/>
              <a:ext cx="3239636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3239636" cy="2496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Công ty vận chuyển hàng hóa nổi tiến của Mỹ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794324" y="5858338"/>
            <a:ext cx="2429727" cy="1795368"/>
            <a:chOff x="0" y="0"/>
            <a:chExt cx="3239636" cy="239382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1997547"/>
              <a:ext cx="3239636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3239636" cy="186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Trang tin công nghệ và phân tích xu hướng số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621647" y="5858338"/>
            <a:ext cx="2429727" cy="1849978"/>
            <a:chOff x="0" y="0"/>
            <a:chExt cx="3239636" cy="2466637"/>
          </a:xfrm>
        </p:grpSpPr>
        <p:sp>
          <p:nvSpPr>
            <p:cNvPr id="25" name="TextBox 25"/>
            <p:cNvSpPr txBox="1"/>
            <p:nvPr/>
          </p:nvSpPr>
          <p:spPr>
            <a:xfrm>
              <a:off x="0" y="2070361"/>
              <a:ext cx="3239636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3239636" cy="1943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Kênh truyền hình thể thao của NBC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621647" y="1674355"/>
            <a:ext cx="14327296" cy="77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9"/>
              </a:lnSpc>
              <a:spcBef>
                <a:spcPct val="0"/>
              </a:spcBef>
            </a:pPr>
            <a:r>
              <a:rPr lang="en-US" sz="5499" b="1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Một số site nổi tiếng đang dùng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00000"/>
              </a:srgbClr>
            </a:gs>
            <a:gs pos="100000">
              <a:srgbClr val="FFA9F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3590" y="-301623"/>
            <a:ext cx="12157361" cy="1057303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9906637" y="1170205"/>
            <a:ext cx="7352663" cy="2587219"/>
            <a:chOff x="0" y="0"/>
            <a:chExt cx="9803551" cy="3449625"/>
          </a:xfrm>
        </p:grpSpPr>
        <p:sp>
          <p:nvSpPr>
            <p:cNvPr id="4" name="TextBox 4"/>
            <p:cNvSpPr txBox="1"/>
            <p:nvPr/>
          </p:nvSpPr>
          <p:spPr>
            <a:xfrm>
              <a:off x="213853" y="66675"/>
              <a:ext cx="9589698" cy="22705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627"/>
                </a:lnSpc>
              </a:pPr>
              <a:r>
                <a:rPr lang="en-US" sz="6025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Thống</a:t>
              </a:r>
              <a:r>
                <a:rPr lang="en-US" sz="6025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6025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kê</a:t>
              </a:r>
              <a:r>
                <a:rPr lang="en-US" sz="6025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6025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về</a:t>
              </a:r>
              <a:r>
                <a:rPr lang="en-US" sz="6025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6025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tỷ</a:t>
              </a:r>
              <a:r>
                <a:rPr lang="en-US" sz="6025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6025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lệ</a:t>
              </a:r>
              <a:r>
                <a:rPr lang="en-US" sz="6025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6025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sử</a:t>
              </a:r>
              <a:r>
                <a:rPr lang="en-US" sz="6025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6025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dụng</a:t>
              </a:r>
              <a:r>
                <a:rPr lang="en-US" sz="6025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CMS </a:t>
              </a:r>
              <a:r>
                <a:rPr lang="en-US" sz="6025" dirty="0" err="1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hiện</a:t>
              </a:r>
              <a:r>
                <a:rPr lang="en-US" sz="6025" dirty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nay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01926"/>
              <a:ext cx="9803551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758736" y="3309937"/>
            <a:ext cx="7500564" cy="366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7" lvl="1" indent="-377824" algn="l">
              <a:lnSpc>
                <a:spcPts val="4199"/>
              </a:lnSpc>
              <a:buFont typeface="Arial"/>
              <a:buChar char="•"/>
            </a:pPr>
            <a:r>
              <a:rPr lang="en-US" sz="3499" b="1" spc="104">
                <a:solidFill>
                  <a:srgbClr val="000000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 Trong top 100 blog hàng đầu thế giới Wordpress chiếm 48% (2012) và 52% (2013)</a:t>
            </a:r>
          </a:p>
          <a:p>
            <a:pPr marL="755647" lvl="1" indent="-377824" algn="l">
              <a:lnSpc>
                <a:spcPts val="4199"/>
              </a:lnSpc>
              <a:buFont typeface="Arial"/>
              <a:buChar char="•"/>
            </a:pPr>
            <a:r>
              <a:rPr lang="en-US" sz="3499" b="1" spc="104">
                <a:solidFill>
                  <a:srgbClr val="000000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Wordpress áp đảo các đối thủ với 75%</a:t>
            </a:r>
          </a:p>
          <a:p>
            <a:pPr marL="755647" lvl="1" indent="-377824" algn="l">
              <a:lnSpc>
                <a:spcPts val="4199"/>
              </a:lnSpc>
              <a:buFont typeface="Arial"/>
              <a:buChar char="•"/>
            </a:pPr>
            <a:r>
              <a:rPr lang="en-US" sz="3499" b="1" spc="104">
                <a:solidFill>
                  <a:srgbClr val="000000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 Thống kê lấy từ cmsusage.com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 lang="en-US" sz="3499" b="1" spc="104">
              <a:solidFill>
                <a:srgbClr val="000000"/>
              </a:solidFill>
              <a:latin typeface="Cabin Semi-Bold"/>
              <a:ea typeface="Cabin Semi-Bold"/>
              <a:cs typeface="Cabin Semi-Bold"/>
              <a:sym typeface="Cabin Semi-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-1726530" y="-229694"/>
            <a:ext cx="2755230" cy="6531045"/>
            <a:chOff x="0" y="0"/>
            <a:chExt cx="3673639" cy="8708060"/>
          </a:xfrm>
        </p:grpSpPr>
        <p:grpSp>
          <p:nvGrpSpPr>
            <p:cNvPr id="8" name="Group 8"/>
            <p:cNvGrpSpPr/>
            <p:nvPr/>
          </p:nvGrpSpPr>
          <p:grpSpPr>
            <a:xfrm rot="-5400000">
              <a:off x="-65231" y="4969189"/>
              <a:ext cx="3804101" cy="3673639"/>
              <a:chOff x="0" y="0"/>
              <a:chExt cx="5562879" cy="53721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562879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5562879" h="5372100">
                    <a:moveTo>
                      <a:pt x="4012209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012209" y="5372100"/>
                    </a:lnTo>
                    <a:lnTo>
                      <a:pt x="5562879" y="2686050"/>
                    </a:lnTo>
                    <a:lnTo>
                      <a:pt x="4012209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-65231" y="4969189"/>
              <a:ext cx="3804101" cy="3673639"/>
              <a:chOff x="0" y="0"/>
              <a:chExt cx="5562879" cy="53721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562879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5562879" h="5372100">
                    <a:moveTo>
                      <a:pt x="4012209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012209" y="5372100"/>
                    </a:lnTo>
                    <a:lnTo>
                      <a:pt x="5562879" y="2686050"/>
                    </a:lnTo>
                    <a:lnTo>
                      <a:pt x="4012209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-65231" y="2553759"/>
              <a:ext cx="3804101" cy="3673639"/>
              <a:chOff x="0" y="0"/>
              <a:chExt cx="5562879" cy="53721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562879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5562879" h="5372100">
                    <a:moveTo>
                      <a:pt x="4012209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012209" y="5372100"/>
                    </a:lnTo>
                    <a:lnTo>
                      <a:pt x="5562879" y="2686050"/>
                    </a:lnTo>
                    <a:lnTo>
                      <a:pt x="4012209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-5400000">
              <a:off x="-65231" y="65231"/>
              <a:ext cx="3804101" cy="3673639"/>
              <a:chOff x="0" y="0"/>
              <a:chExt cx="5562879" cy="53721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562879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5562879" h="5372100">
                    <a:moveTo>
                      <a:pt x="4012209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012209" y="5372100"/>
                    </a:lnTo>
                    <a:lnTo>
                      <a:pt x="5562879" y="2686050"/>
                    </a:lnTo>
                    <a:lnTo>
                      <a:pt x="4012209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86343" y="1028700"/>
            <a:ext cx="508836" cy="543493"/>
            <a:chOff x="0" y="0"/>
            <a:chExt cx="556051" cy="5939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6051" cy="593924"/>
            </a:xfrm>
            <a:custGeom>
              <a:avLst/>
              <a:gdLst/>
              <a:ahLst/>
              <a:cxnLst/>
              <a:rect l="l" t="t" r="r" b="b"/>
              <a:pathLst>
                <a:path w="556051" h="593924">
                  <a:moveTo>
                    <a:pt x="431591" y="59690"/>
                  </a:moveTo>
                  <a:cubicBezTo>
                    <a:pt x="467151" y="59690"/>
                    <a:pt x="496361" y="88900"/>
                    <a:pt x="496361" y="124460"/>
                  </a:cubicBezTo>
                  <a:lnTo>
                    <a:pt x="496361" y="469464"/>
                  </a:lnTo>
                  <a:cubicBezTo>
                    <a:pt x="496361" y="505024"/>
                    <a:pt x="467151" y="534234"/>
                    <a:pt x="431591" y="534234"/>
                  </a:cubicBezTo>
                  <a:lnTo>
                    <a:pt x="124460" y="534234"/>
                  </a:lnTo>
                  <a:cubicBezTo>
                    <a:pt x="88900" y="534234"/>
                    <a:pt x="59690" y="505024"/>
                    <a:pt x="59690" y="46946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31591" y="59690"/>
                  </a:lnTo>
                  <a:moveTo>
                    <a:pt x="43159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69464"/>
                  </a:lnTo>
                  <a:cubicBezTo>
                    <a:pt x="0" y="538044"/>
                    <a:pt x="55880" y="593924"/>
                    <a:pt x="124460" y="593924"/>
                  </a:cubicBezTo>
                  <a:lnTo>
                    <a:pt x="431591" y="593924"/>
                  </a:lnTo>
                  <a:cubicBezTo>
                    <a:pt x="500171" y="593924"/>
                    <a:pt x="556051" y="538044"/>
                    <a:pt x="556051" y="469464"/>
                  </a:cubicBezTo>
                  <a:lnTo>
                    <a:pt x="556051" y="124460"/>
                  </a:lnTo>
                  <a:cubicBezTo>
                    <a:pt x="556051" y="55880"/>
                    <a:pt x="500171" y="0"/>
                    <a:pt x="431591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2155861"/>
            <a:ext cx="8662247" cy="6186379"/>
            <a:chOff x="0" y="0"/>
            <a:chExt cx="11549663" cy="8248506"/>
          </a:xfrm>
        </p:grpSpPr>
        <p:sp>
          <p:nvSpPr>
            <p:cNvPr id="5" name="TextBox 5"/>
            <p:cNvSpPr txBox="1"/>
            <p:nvPr/>
          </p:nvSpPr>
          <p:spPr>
            <a:xfrm>
              <a:off x="0" y="38100"/>
              <a:ext cx="11549663" cy="23571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19"/>
                </a:lnSpc>
                <a:spcBef>
                  <a:spcPct val="0"/>
                </a:spcBef>
              </a:pPr>
              <a:r>
                <a:rPr lang="en-US" sz="4199" b="1">
                  <a:solidFill>
                    <a:srgbClr val="1836B2"/>
                  </a:solidFill>
                  <a:latin typeface="Cabin Semi-Bold"/>
                  <a:ea typeface="Cabin Semi-Bold"/>
                  <a:cs typeface="Cabin Semi-Bold"/>
                  <a:sym typeface="Cabin Semi-Bold"/>
                </a:rPr>
                <a:t>Tính đến 27/8/2013, xét trên tất cả các website trên thế giới thì con số thông kê được như sau: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5039" y="2651318"/>
              <a:ext cx="11199585" cy="5597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103" lvl="1" indent="-377552" algn="l">
                <a:lnSpc>
                  <a:spcPts val="4896"/>
                </a:lnSpc>
                <a:buFont typeface="Arial"/>
                <a:buChar char="•"/>
              </a:pPr>
              <a:r>
                <a:rPr lang="en-US" sz="3497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  Wordpress: ~19%</a:t>
              </a:r>
            </a:p>
            <a:p>
              <a:pPr marL="755103" lvl="1" indent="-377552" algn="l">
                <a:lnSpc>
                  <a:spcPts val="4896"/>
                </a:lnSpc>
                <a:buFont typeface="Arial"/>
                <a:buChar char="•"/>
              </a:pPr>
              <a:r>
                <a:rPr lang="en-US" sz="3497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+ Không sử dụng CMS: ~69%</a:t>
              </a:r>
            </a:p>
            <a:p>
              <a:pPr marL="755103" lvl="1" indent="-377552" algn="l">
                <a:lnSpc>
                  <a:spcPts val="4896"/>
                </a:lnSpc>
                <a:buFont typeface="Arial"/>
                <a:buChar char="•"/>
              </a:pPr>
              <a:r>
                <a:rPr lang="en-US" sz="3497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+ Joomla: ~3%</a:t>
              </a:r>
            </a:p>
            <a:p>
              <a:pPr algn="l">
                <a:lnSpc>
                  <a:spcPts val="4896"/>
                </a:lnSpc>
              </a:pPr>
              <a:r>
                <a:rPr lang="en-US" sz="3497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→ Wordpress là hệ thống quản lý nội dung (CMS) phổ biến nhất hiện nay</a:t>
              </a:r>
            </a:p>
            <a:p>
              <a:pPr algn="l">
                <a:lnSpc>
                  <a:spcPts val="4896"/>
                </a:lnSpc>
              </a:pPr>
              <a:endParaRPr lang="en-US" sz="3497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  <a:p>
              <a:pPr marL="0" lvl="0" indent="0" algn="l">
                <a:lnSpc>
                  <a:spcPts val="4056"/>
                </a:lnSpc>
                <a:spcBef>
                  <a:spcPct val="0"/>
                </a:spcBef>
              </a:pPr>
              <a:endParaRPr lang="en-US" sz="3497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7" name="AutoShape 7"/>
          <p:cNvSpPr/>
          <p:nvPr/>
        </p:nvSpPr>
        <p:spPr>
          <a:xfrm>
            <a:off x="4790415" y="-446411"/>
            <a:ext cx="13497585" cy="791631"/>
          </a:xfrm>
          <a:prstGeom prst="rect">
            <a:avLst/>
          </a:prstGeom>
          <a:solidFill>
            <a:srgbClr val="A066CB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0" y="-1169840"/>
            <a:ext cx="5660104" cy="3231734"/>
          </a:xfrm>
          <a:custGeom>
            <a:avLst/>
            <a:gdLst/>
            <a:ahLst/>
            <a:cxnLst/>
            <a:rect l="l" t="t" r="r" b="b"/>
            <a:pathLst>
              <a:path w="5660104" h="3231734">
                <a:moveTo>
                  <a:pt x="5660104" y="3231734"/>
                </a:moveTo>
                <a:lnTo>
                  <a:pt x="0" y="3231734"/>
                </a:lnTo>
                <a:lnTo>
                  <a:pt x="0" y="0"/>
                </a:lnTo>
                <a:lnTo>
                  <a:pt x="5660104" y="0"/>
                </a:lnTo>
                <a:lnTo>
                  <a:pt x="5660104" y="323173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1576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807" y="-624716"/>
            <a:ext cx="10823572" cy="9983468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0295179" y="8151646"/>
            <a:ext cx="245603" cy="24560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95179" y="8579587"/>
            <a:ext cx="245603" cy="24560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769420" y="8151646"/>
            <a:ext cx="245603" cy="24560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769420" y="8579587"/>
            <a:ext cx="245603" cy="24560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243873" y="8151646"/>
            <a:ext cx="245603" cy="245603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51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667400" y="8113546"/>
            <a:ext cx="953234" cy="28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4"/>
              </a:lnSpc>
              <a:spcBef>
                <a:spcPct val="0"/>
              </a:spcBef>
            </a:pPr>
            <a:r>
              <a:rPr lang="en-US" sz="1645" spc="8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Wordpress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67400" y="8541487"/>
            <a:ext cx="598475" cy="28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4"/>
              </a:lnSpc>
              <a:spcBef>
                <a:spcPct val="0"/>
              </a:spcBef>
            </a:pPr>
            <a:r>
              <a:rPr lang="en-US" sz="1645" spc="8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Drupal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38848" y="8113546"/>
            <a:ext cx="628812" cy="28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4"/>
              </a:lnSpc>
              <a:spcBef>
                <a:spcPct val="0"/>
              </a:spcBef>
            </a:pPr>
            <a:r>
              <a:rPr lang="en-US" sz="1645" spc="8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TYPO3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138848" y="8541487"/>
            <a:ext cx="614587" cy="28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4"/>
              </a:lnSpc>
              <a:spcBef>
                <a:spcPct val="0"/>
              </a:spcBef>
            </a:pPr>
            <a:r>
              <a:rPr lang="en-US" sz="1645" spc="8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Joomia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613300" y="8113546"/>
            <a:ext cx="522994" cy="28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4"/>
              </a:lnSpc>
              <a:spcBef>
                <a:spcPct val="0"/>
              </a:spcBef>
            </a:pPr>
            <a:r>
              <a:rPr lang="en-US" sz="1645" spc="8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Other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00000"/>
              </a:srgbClr>
            </a:gs>
            <a:gs pos="100000">
              <a:srgbClr val="FFA9F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41037" y="-1217562"/>
            <a:ext cx="9852713" cy="11676274"/>
            <a:chOff x="0" y="0"/>
            <a:chExt cx="13136951" cy="15568366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10199044" cy="5823319"/>
            </a:xfrm>
            <a:custGeom>
              <a:avLst/>
              <a:gdLst/>
              <a:ahLst/>
              <a:cxnLst/>
              <a:rect l="l" t="t" r="r" b="b"/>
              <a:pathLst>
                <a:path w="10199044" h="5823319">
                  <a:moveTo>
                    <a:pt x="0" y="5823319"/>
                  </a:moveTo>
                  <a:lnTo>
                    <a:pt x="10199044" y="5823319"/>
                  </a:lnTo>
                  <a:lnTo>
                    <a:pt x="10199044" y="0"/>
                  </a:lnTo>
                  <a:lnTo>
                    <a:pt x="0" y="0"/>
                  </a:lnTo>
                  <a:lnTo>
                    <a:pt x="0" y="58233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1576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" name="Group 4"/>
            <p:cNvGrpSpPr/>
            <p:nvPr/>
          </p:nvGrpSpPr>
          <p:grpSpPr>
            <a:xfrm rot="-10800000">
              <a:off x="2115666" y="3513875"/>
              <a:ext cx="11021285" cy="12054491"/>
              <a:chOff x="0" y="0"/>
              <a:chExt cx="4911651" cy="53721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911651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4911651" h="5372100">
                    <a:moveTo>
                      <a:pt x="3360981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3360981" y="5372100"/>
                    </a:lnTo>
                    <a:lnTo>
                      <a:pt x="4911651" y="2686050"/>
                    </a:lnTo>
                    <a:lnTo>
                      <a:pt x="3360981" y="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6" name="TextBox 6"/>
          <p:cNvSpPr txBox="1"/>
          <p:nvPr/>
        </p:nvSpPr>
        <p:spPr>
          <a:xfrm>
            <a:off x="893636" y="725531"/>
            <a:ext cx="19244667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6000" b="1">
                <a:solidFill>
                  <a:srgbClr val="1836B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IV. Phân biệt Wordpress.com &amp; Wordpress.org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419507" y="1836246"/>
          <a:ext cx="15448986" cy="20041085"/>
        </p:xfrm>
        <a:graphic>
          <a:graphicData uri="http://schemas.openxmlformats.org/drawingml/2006/table">
            <a:tbl>
              <a:tblPr/>
              <a:tblGrid>
                <a:gridCol w="7724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4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3475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 dirty="0">
                          <a:solidFill>
                            <a:srgbClr val="000000"/>
                          </a:solidFill>
                          <a:latin typeface="Cabin Bold"/>
                          <a:ea typeface="Cabin Bold"/>
                          <a:cs typeface="Cabin Bold"/>
                          <a:sym typeface="Cabin Bold"/>
                        </a:rPr>
                        <a:t>Wordpress.com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000000"/>
                          </a:solidFill>
                          <a:latin typeface="Cabin Bold"/>
                          <a:ea typeface="Cabin Bold"/>
                          <a:cs typeface="Cabin Bold"/>
                          <a:sym typeface="Cabin Bold"/>
                        </a:rPr>
                        <a:t>Wordpress.org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2075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Cần mua hosting (~3.49$/tháng) và tên miền (~10$/năm).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Miễn phí cơ bản, giới hạn 3GB và dùng subdomain wordpress.com.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2075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Được upload theme miễn phí/trả phí và tùy chỉnh giao diện theo ý muốn.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Không được upload theme, bị giới hạn theme có sẵn; muốn chỉnh code cần trả thêm ~30$/năm.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2075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Tự quản lý cập nhật, bảo mật, chống spam và sao lưu website.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WordPress.com tự lo cập nhật, bảo mật và sao lưu.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Được cài và sử dụng mọi plugin, thêm tính năng tùy ý.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Không được upload plugin, chỉ dùng tính năng có sẵn.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2075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Có thể tự do đặt quảng cáo, affiliate để kiếm tiền.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Hạn chế đặt quảng cáo; cần đạt ~25.000 lượt xem/tháng và xin phép.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62075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6115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19345">
                <a:tc gridSpan="2"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 b="1" dirty="0">
                          <a:solidFill>
                            <a:srgbClr val="000000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VII. Tính </a:t>
                      </a:r>
                      <a:r>
                        <a:rPr lang="en-US" sz="3800" b="1" dirty="0" err="1">
                          <a:solidFill>
                            <a:srgbClr val="000000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năng</a:t>
                      </a:r>
                      <a:r>
                        <a:rPr lang="en-US" sz="3800" b="1" dirty="0">
                          <a:solidFill>
                            <a:srgbClr val="000000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 </a:t>
                      </a:r>
                      <a:r>
                        <a:rPr lang="en-US" sz="3800" b="1" dirty="0" err="1">
                          <a:solidFill>
                            <a:srgbClr val="000000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nổi</a:t>
                      </a:r>
                      <a:r>
                        <a:rPr lang="en-US" sz="3800" b="1" dirty="0">
                          <a:solidFill>
                            <a:srgbClr val="000000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 </a:t>
                      </a:r>
                      <a:r>
                        <a:rPr lang="en-US" sz="3800" b="1" dirty="0" err="1">
                          <a:solidFill>
                            <a:srgbClr val="000000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bật</a:t>
                      </a:r>
                      <a:r>
                        <a:rPr lang="en-US" sz="3800" b="1" dirty="0">
                          <a:solidFill>
                            <a:srgbClr val="000000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 </a:t>
                      </a:r>
                      <a:r>
                        <a:rPr lang="en-US" sz="3800" b="1" dirty="0" err="1">
                          <a:solidFill>
                            <a:srgbClr val="000000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của</a:t>
                      </a:r>
                      <a:r>
                        <a:rPr lang="en-US" sz="3800" b="1" dirty="0">
                          <a:solidFill>
                            <a:srgbClr val="000000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 </a:t>
                      </a:r>
                      <a:r>
                        <a:rPr lang="en-US" sz="3800" b="1" dirty="0" err="1">
                          <a:solidFill>
                            <a:srgbClr val="000000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Wordpress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 b="1">
                          <a:solidFill>
                            <a:srgbClr val="000000"/>
                          </a:solidFill>
                          <a:latin typeface="Cabin Medium"/>
                          <a:ea typeface="Cabin Medium"/>
                          <a:cs typeface="Cabin Medium"/>
                          <a:sym typeface="Cabin Medium"/>
                        </a:rPr>
                        <a:t>VII. Tính năng nổi bật của Wordpress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6C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 flipV="1">
            <a:off x="9134475" y="2034219"/>
            <a:ext cx="19050" cy="7754352"/>
          </a:xfrm>
          <a:prstGeom prst="line">
            <a:avLst/>
          </a:prstGeom>
          <a:ln w="38100" cap="flat">
            <a:solidFill>
              <a:srgbClr val="D2BC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05925"/>
            <a:ext cx="19280880" cy="1312977"/>
            <a:chOff x="0" y="0"/>
            <a:chExt cx="25707840" cy="1750636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13125860" y="-10831345"/>
              <a:ext cx="1750636" cy="23413325"/>
              <a:chOff x="0" y="0"/>
              <a:chExt cx="3130550" cy="418685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130550" cy="41868551"/>
              </a:xfrm>
              <a:custGeom>
                <a:avLst/>
                <a:gdLst/>
                <a:ahLst/>
                <a:cxnLst/>
                <a:rect l="l" t="t" r="r" b="b"/>
                <a:pathLst>
                  <a:path w="3130550" h="41868551">
                    <a:moveTo>
                      <a:pt x="0" y="1123950"/>
                    </a:moveTo>
                    <a:lnTo>
                      <a:pt x="0" y="41868551"/>
                    </a:lnTo>
                    <a:lnTo>
                      <a:pt x="3130550" y="41868551"/>
                    </a:lnTo>
                    <a:lnTo>
                      <a:pt x="3130550" y="0"/>
                    </a:lnTo>
                    <a:close/>
                  </a:path>
                </a:pathLst>
              </a:custGeom>
              <a:solidFill>
                <a:srgbClr val="E1A8F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Freeform 5"/>
            <p:cNvSpPr/>
            <p:nvPr/>
          </p:nvSpPr>
          <p:spPr>
            <a:xfrm>
              <a:off x="0" y="0"/>
              <a:ext cx="3066088" cy="1750636"/>
            </a:xfrm>
            <a:custGeom>
              <a:avLst/>
              <a:gdLst/>
              <a:ahLst/>
              <a:cxnLst/>
              <a:rect l="l" t="t" r="r" b="b"/>
              <a:pathLst>
                <a:path w="3066088" h="1750636">
                  <a:moveTo>
                    <a:pt x="0" y="0"/>
                  </a:moveTo>
                  <a:lnTo>
                    <a:pt x="3066088" y="0"/>
                  </a:lnTo>
                  <a:lnTo>
                    <a:pt x="3066088" y="1750636"/>
                  </a:lnTo>
                  <a:lnTo>
                    <a:pt x="0" y="1750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15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flipH="1" flipV="1">
            <a:off x="9172575" y="2712186"/>
            <a:ext cx="0" cy="6322390"/>
          </a:xfrm>
          <a:prstGeom prst="line">
            <a:avLst/>
          </a:prstGeom>
          <a:ln w="57150" cap="rnd">
            <a:solidFill>
              <a:srgbClr val="86C7ED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744474"/>
            <a:ext cx="16230600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  <a:spcBef>
                <a:spcPct val="0"/>
              </a:spcBef>
            </a:pPr>
            <a:r>
              <a:rPr lang="en-US" sz="6000" b="1" spc="60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V. Ưu điểm và nhược điểm của WordPress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67938" y="2010993"/>
            <a:ext cx="1871663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3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Ưu điểm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88749" y="2010993"/>
            <a:ext cx="2664460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3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Nhược điểm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776847"/>
            <a:ext cx="7819040" cy="533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247" lvl="1" indent="-323623" algn="l">
              <a:lnSpc>
                <a:spcPts val="3897"/>
              </a:lnSpc>
              <a:buFont typeface="Arial"/>
              <a:buChar char="•"/>
            </a:pPr>
            <a:r>
              <a:rPr lang="en-US" sz="2997" spc="2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Dễ sử dụng, giao diện thân thiện với người mới</a:t>
            </a:r>
          </a:p>
          <a:p>
            <a:pPr marL="647247" lvl="1" indent="-323623" algn="l">
              <a:lnSpc>
                <a:spcPts val="3897"/>
              </a:lnSpc>
              <a:buFont typeface="Arial"/>
              <a:buChar char="•"/>
            </a:pPr>
            <a:r>
              <a:rPr lang="en-US" sz="2997" spc="2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Nhiều theme và plugin hỗ trợ tùy chỉnh linh hoạt.</a:t>
            </a:r>
          </a:p>
          <a:p>
            <a:pPr marL="647247" lvl="1" indent="-323623" algn="l">
              <a:lnSpc>
                <a:spcPts val="3897"/>
              </a:lnSpc>
              <a:buFont typeface="Arial"/>
              <a:buChar char="•"/>
            </a:pPr>
            <a:r>
              <a:rPr lang="en-US" sz="2997" spc="2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Hỗ trợ SEO tốt với nhiều công cụ như Yoast SEO.</a:t>
            </a:r>
          </a:p>
          <a:p>
            <a:pPr marL="647247" lvl="1" indent="-323623" algn="l">
              <a:lnSpc>
                <a:spcPts val="3897"/>
              </a:lnSpc>
              <a:buFont typeface="Arial"/>
              <a:buChar char="•"/>
            </a:pPr>
            <a:r>
              <a:rPr lang="en-US" sz="2997" spc="2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Linh hoạt, phù hợp nhiều loại website khác nhau.</a:t>
            </a:r>
          </a:p>
          <a:p>
            <a:pPr marL="647247" lvl="1" indent="-323623" algn="l">
              <a:lnSpc>
                <a:spcPts val="3897"/>
              </a:lnSpc>
              <a:buFont typeface="Arial"/>
              <a:buChar char="•"/>
            </a:pPr>
            <a:r>
              <a:rPr lang="en-US" sz="2997" spc="2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Mã nguồn mở, dễ chỉnh sửa theo nhu cầu.</a:t>
            </a:r>
          </a:p>
          <a:p>
            <a:pPr marL="647247" lvl="1" indent="-323623" algn="l">
              <a:lnSpc>
                <a:spcPts val="3897"/>
              </a:lnSpc>
              <a:buFont typeface="Arial"/>
              <a:buChar char="•"/>
            </a:pPr>
            <a:r>
              <a:rPr lang="en-US" sz="2997" spc="2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Dễ tích hợp với Google Analytics, mạng xã hội và dịch vụ khác.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11459" y="2776847"/>
            <a:ext cx="7819040" cy="5819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247" lvl="1" indent="-323623" algn="l">
              <a:lnSpc>
                <a:spcPts val="3897"/>
              </a:lnSpc>
              <a:buFont typeface="Arial"/>
              <a:buChar char="•"/>
            </a:pPr>
            <a:r>
              <a:rPr lang="en-US" sz="2997" spc="2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Dễ bị tấn công bảo mật nếu không cập nhật thường xuyên.</a:t>
            </a:r>
          </a:p>
          <a:p>
            <a:pPr marL="647247" lvl="1" indent="-323623" algn="l">
              <a:lnSpc>
                <a:spcPts val="3897"/>
              </a:lnSpc>
              <a:buFont typeface="Arial"/>
              <a:buChar char="•"/>
            </a:pPr>
            <a:r>
              <a:rPr lang="en-US" sz="2997" spc="2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Có thể chậm khi dùng nhiều plugin hoặc tối ưu kém.</a:t>
            </a:r>
          </a:p>
          <a:p>
            <a:pPr marL="647247" lvl="1" indent="-323623" algn="l">
              <a:lnSpc>
                <a:spcPts val="3897"/>
              </a:lnSpc>
              <a:buFont typeface="Arial"/>
              <a:buChar char="•"/>
            </a:pPr>
            <a:r>
              <a:rPr lang="en-US" sz="2997" spc="2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Phụ thuộc vào plugin/theme bên thứ ba, dễ xảy ra xung đột.</a:t>
            </a:r>
          </a:p>
          <a:p>
            <a:pPr marL="647247" lvl="1" indent="-323623" algn="l">
              <a:lnSpc>
                <a:spcPts val="3897"/>
              </a:lnSpc>
              <a:buFont typeface="Arial"/>
              <a:buChar char="•"/>
            </a:pPr>
            <a:r>
              <a:rPr lang="en-US" sz="2997" spc="2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Có thể phát sinh chi phí cho hosting, theme và plugin cao cấp.</a:t>
            </a:r>
          </a:p>
          <a:p>
            <a:pPr marL="647247" lvl="1" indent="-323623" algn="l">
              <a:lnSpc>
                <a:spcPts val="3897"/>
              </a:lnSpc>
              <a:buFont typeface="Arial"/>
              <a:buChar char="•"/>
            </a:pPr>
            <a:r>
              <a:rPr lang="en-US" sz="2997" spc="2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Cần kiến thức kỹ thuật để tùy chỉnh sâu và sửa lỗi.</a:t>
            </a:r>
          </a:p>
          <a:p>
            <a:pPr marL="647247" lvl="1" indent="-323623" algn="l">
              <a:lnSpc>
                <a:spcPts val="3897"/>
              </a:lnSpc>
              <a:buFont typeface="Arial"/>
              <a:buChar char="•"/>
            </a:pPr>
            <a:r>
              <a:rPr lang="en-US" sz="2997" spc="2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Khó quản lý hơn khi website phát triển lớn.</a:t>
            </a:r>
          </a:p>
          <a:p>
            <a:pPr algn="l">
              <a:lnSpc>
                <a:spcPts val="3897"/>
              </a:lnSpc>
            </a:pPr>
            <a:endParaRPr lang="en-US" sz="2997" spc="29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00000"/>
              </a:srgbClr>
            </a:gs>
            <a:gs pos="100000">
              <a:srgbClr val="FFA9F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86343" y="1028700"/>
            <a:ext cx="508836" cy="543493"/>
            <a:chOff x="0" y="0"/>
            <a:chExt cx="556051" cy="5939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6051" cy="593924"/>
            </a:xfrm>
            <a:custGeom>
              <a:avLst/>
              <a:gdLst/>
              <a:ahLst/>
              <a:cxnLst/>
              <a:rect l="l" t="t" r="r" b="b"/>
              <a:pathLst>
                <a:path w="556051" h="593924">
                  <a:moveTo>
                    <a:pt x="431591" y="59690"/>
                  </a:moveTo>
                  <a:cubicBezTo>
                    <a:pt x="467151" y="59690"/>
                    <a:pt x="496361" y="88900"/>
                    <a:pt x="496361" y="124460"/>
                  </a:cubicBezTo>
                  <a:lnTo>
                    <a:pt x="496361" y="469464"/>
                  </a:lnTo>
                  <a:cubicBezTo>
                    <a:pt x="496361" y="505024"/>
                    <a:pt x="467151" y="534234"/>
                    <a:pt x="431591" y="534234"/>
                  </a:cubicBezTo>
                  <a:lnTo>
                    <a:pt x="124460" y="534234"/>
                  </a:lnTo>
                  <a:cubicBezTo>
                    <a:pt x="88900" y="534234"/>
                    <a:pt x="59690" y="505024"/>
                    <a:pt x="59690" y="46946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31591" y="59690"/>
                  </a:lnTo>
                  <a:moveTo>
                    <a:pt x="43159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69464"/>
                  </a:lnTo>
                  <a:cubicBezTo>
                    <a:pt x="0" y="538044"/>
                    <a:pt x="55880" y="593924"/>
                    <a:pt x="124460" y="593924"/>
                  </a:cubicBezTo>
                  <a:lnTo>
                    <a:pt x="431591" y="593924"/>
                  </a:lnTo>
                  <a:cubicBezTo>
                    <a:pt x="500171" y="593924"/>
                    <a:pt x="556051" y="538044"/>
                    <a:pt x="556051" y="469464"/>
                  </a:cubicBezTo>
                  <a:lnTo>
                    <a:pt x="556051" y="124460"/>
                  </a:lnTo>
                  <a:cubicBezTo>
                    <a:pt x="556051" y="55880"/>
                    <a:pt x="500171" y="0"/>
                    <a:pt x="431591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>
            <a:off x="4790415" y="-446411"/>
            <a:ext cx="13497585" cy="791631"/>
          </a:xfrm>
          <a:prstGeom prst="rect">
            <a:avLst/>
          </a:prstGeom>
          <a:solidFill>
            <a:srgbClr val="A066C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0" y="-1169840"/>
            <a:ext cx="5660104" cy="3231734"/>
          </a:xfrm>
          <a:custGeom>
            <a:avLst/>
            <a:gdLst/>
            <a:ahLst/>
            <a:cxnLst/>
            <a:rect l="l" t="t" r="r" b="b"/>
            <a:pathLst>
              <a:path w="5660104" h="3231734">
                <a:moveTo>
                  <a:pt x="5660104" y="3231734"/>
                </a:moveTo>
                <a:lnTo>
                  <a:pt x="0" y="3231734"/>
                </a:lnTo>
                <a:lnTo>
                  <a:pt x="0" y="0"/>
                </a:lnTo>
                <a:lnTo>
                  <a:pt x="5660104" y="0"/>
                </a:lnTo>
                <a:lnTo>
                  <a:pt x="5660104" y="323173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15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81000" y="860909"/>
            <a:ext cx="15963900" cy="1019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 spc="29" dirty="0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VI. Thành </a:t>
            </a:r>
            <a:r>
              <a:rPr lang="en-US" sz="5999" b="1" spc="29" dirty="0" err="1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phần</a:t>
            </a:r>
            <a:r>
              <a:rPr lang="en-US" sz="5999" b="1" spc="29" dirty="0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 </a:t>
            </a:r>
            <a:r>
              <a:rPr lang="en-US" sz="5999" b="1" spc="29" dirty="0" err="1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của</a:t>
            </a:r>
            <a:r>
              <a:rPr lang="en-US" sz="5999" b="1" spc="29" dirty="0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 </a:t>
            </a:r>
            <a:r>
              <a:rPr lang="en-US" sz="5999" b="1" spc="29" dirty="0" err="1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một</a:t>
            </a:r>
            <a:r>
              <a:rPr lang="en-US" sz="5999" b="1" spc="29" dirty="0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 website </a:t>
            </a:r>
            <a:r>
              <a:rPr lang="en-US" sz="5999" b="1" spc="29" dirty="0" err="1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wordpress</a:t>
            </a:r>
            <a:endParaRPr lang="en-US" sz="5999" b="1" spc="29" dirty="0">
              <a:solidFill>
                <a:srgbClr val="1836B2"/>
              </a:solidFill>
              <a:latin typeface="Cabin Bold"/>
              <a:ea typeface="Cabin Bold"/>
              <a:cs typeface="Cabin Bold"/>
              <a:sym typeface="Cabi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68352" y="2203245"/>
            <a:ext cx="10170855" cy="1383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19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Với</a:t>
            </a: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website </a:t>
            </a:r>
            <a:r>
              <a:rPr lang="en-US" sz="3999" spc="19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động</a:t>
            </a: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999" spc="19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nói</a:t>
            </a: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999" spc="19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chung</a:t>
            </a: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3999" spc="19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có</a:t>
            </a: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3 </a:t>
            </a:r>
            <a:r>
              <a:rPr lang="en-US" sz="3999" spc="19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thành</a:t>
            </a: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999" spc="19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phần</a:t>
            </a: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: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endParaRPr lang="en-US" sz="3999" spc="19" dirty="0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57994" y="3439943"/>
            <a:ext cx="9881213" cy="4966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1" lvl="1" indent="-367031" algn="l">
              <a:lnSpc>
                <a:spcPts val="4420"/>
              </a:lnSpc>
              <a:buFont typeface="Arial"/>
              <a:buChar char="•"/>
            </a:pPr>
            <a:r>
              <a:rPr lang="en-US" sz="3400" spc="34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Source code: Cỗ máy vận hành mọi hoạt động của Website (viết bằng PHP, Java, .NET, Python...)</a:t>
            </a:r>
          </a:p>
          <a:p>
            <a:pPr marL="734061" lvl="1" indent="-367031" algn="l">
              <a:lnSpc>
                <a:spcPts val="4420"/>
              </a:lnSpc>
              <a:buFont typeface="Arial"/>
              <a:buChar char="•"/>
            </a:pPr>
            <a:r>
              <a:rPr lang="en-US" sz="3400" spc="34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Database: CSDL – cơ sở dữ liệu, được quản lý bởi các phần mềm quản trị CSDL như MySQL, SQL Server, Oracle...</a:t>
            </a:r>
          </a:p>
          <a:p>
            <a:pPr marL="734061" lvl="1" indent="-367031" algn="l">
              <a:lnSpc>
                <a:spcPts val="4420"/>
              </a:lnSpc>
              <a:buFont typeface="Arial"/>
              <a:buChar char="•"/>
            </a:pPr>
            <a:r>
              <a:rPr lang="en-US" sz="3400" spc="34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Data: Thường chia thành Text Data (dạng văn bản) và Media Data: như hình ảnh, video, tập tin khác (pdf, word, rar, zip....)</a:t>
            </a:r>
          </a:p>
          <a:p>
            <a:pPr algn="l">
              <a:lnSpc>
                <a:spcPts val="4420"/>
              </a:lnSpc>
            </a:pPr>
            <a:endParaRPr lang="en-US" sz="3400" spc="34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86343" y="1028700"/>
            <a:ext cx="508836" cy="543493"/>
            <a:chOff x="0" y="0"/>
            <a:chExt cx="556051" cy="5939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6051" cy="593924"/>
            </a:xfrm>
            <a:custGeom>
              <a:avLst/>
              <a:gdLst/>
              <a:ahLst/>
              <a:cxnLst/>
              <a:rect l="l" t="t" r="r" b="b"/>
              <a:pathLst>
                <a:path w="556051" h="593924">
                  <a:moveTo>
                    <a:pt x="431591" y="59690"/>
                  </a:moveTo>
                  <a:cubicBezTo>
                    <a:pt x="467151" y="59690"/>
                    <a:pt x="496361" y="88900"/>
                    <a:pt x="496361" y="124460"/>
                  </a:cubicBezTo>
                  <a:lnTo>
                    <a:pt x="496361" y="469464"/>
                  </a:lnTo>
                  <a:cubicBezTo>
                    <a:pt x="496361" y="505024"/>
                    <a:pt x="467151" y="534234"/>
                    <a:pt x="431591" y="534234"/>
                  </a:cubicBezTo>
                  <a:lnTo>
                    <a:pt x="124460" y="534234"/>
                  </a:lnTo>
                  <a:cubicBezTo>
                    <a:pt x="88900" y="534234"/>
                    <a:pt x="59690" y="505024"/>
                    <a:pt x="59690" y="46946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31591" y="59690"/>
                  </a:lnTo>
                  <a:moveTo>
                    <a:pt x="43159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69464"/>
                  </a:lnTo>
                  <a:cubicBezTo>
                    <a:pt x="0" y="538044"/>
                    <a:pt x="55880" y="593924"/>
                    <a:pt x="124460" y="593924"/>
                  </a:cubicBezTo>
                  <a:lnTo>
                    <a:pt x="431591" y="593924"/>
                  </a:lnTo>
                  <a:cubicBezTo>
                    <a:pt x="500171" y="593924"/>
                    <a:pt x="556051" y="538044"/>
                    <a:pt x="556051" y="469464"/>
                  </a:cubicBezTo>
                  <a:lnTo>
                    <a:pt x="556051" y="124460"/>
                  </a:lnTo>
                  <a:cubicBezTo>
                    <a:pt x="556051" y="55880"/>
                    <a:pt x="500171" y="0"/>
                    <a:pt x="431591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>
            <a:off x="4790415" y="-446411"/>
            <a:ext cx="13497585" cy="791631"/>
          </a:xfrm>
          <a:prstGeom prst="rect">
            <a:avLst/>
          </a:prstGeom>
          <a:solidFill>
            <a:srgbClr val="A066C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0" y="-1169840"/>
            <a:ext cx="5660104" cy="3231734"/>
          </a:xfrm>
          <a:custGeom>
            <a:avLst/>
            <a:gdLst/>
            <a:ahLst/>
            <a:cxnLst/>
            <a:rect l="l" t="t" r="r" b="b"/>
            <a:pathLst>
              <a:path w="5660104" h="3231734">
                <a:moveTo>
                  <a:pt x="5660104" y="3231734"/>
                </a:moveTo>
                <a:lnTo>
                  <a:pt x="0" y="3231734"/>
                </a:lnTo>
                <a:lnTo>
                  <a:pt x="0" y="0"/>
                </a:lnTo>
                <a:lnTo>
                  <a:pt x="5660104" y="0"/>
                </a:lnTo>
                <a:lnTo>
                  <a:pt x="5660104" y="323173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15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0" y="787608"/>
            <a:ext cx="16764000" cy="1019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 spc="29" dirty="0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VI. Thành </a:t>
            </a:r>
            <a:r>
              <a:rPr lang="en-US" sz="5999" b="1" spc="29" dirty="0" err="1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phần</a:t>
            </a:r>
            <a:r>
              <a:rPr lang="en-US" sz="5999" b="1" spc="29" dirty="0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 </a:t>
            </a:r>
            <a:r>
              <a:rPr lang="en-US" sz="5999" b="1" spc="29" dirty="0" err="1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của</a:t>
            </a:r>
            <a:r>
              <a:rPr lang="en-US" sz="5999" b="1" spc="29" dirty="0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 </a:t>
            </a:r>
            <a:r>
              <a:rPr lang="en-US" sz="5999" b="1" spc="29" dirty="0" err="1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một</a:t>
            </a:r>
            <a:r>
              <a:rPr lang="en-US" sz="5999" b="1" spc="29" dirty="0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 website </a:t>
            </a:r>
            <a:r>
              <a:rPr lang="en-US" sz="5999" b="1" spc="29" dirty="0" err="1">
                <a:solidFill>
                  <a:srgbClr val="1836B2"/>
                </a:solidFill>
                <a:latin typeface="Cabin Bold"/>
                <a:ea typeface="Cabin Bold"/>
                <a:cs typeface="Cabin Bold"/>
                <a:sym typeface="Cabin Bold"/>
              </a:rPr>
              <a:t>wordpress</a:t>
            </a:r>
            <a:endParaRPr lang="en-US" sz="5999" b="1" spc="29" dirty="0">
              <a:solidFill>
                <a:srgbClr val="1836B2"/>
              </a:solidFill>
              <a:latin typeface="Cabin Bold"/>
              <a:ea typeface="Cabin Bold"/>
              <a:cs typeface="Cabin Bold"/>
              <a:sym typeface="Cabi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92283" y="2041379"/>
            <a:ext cx="10116837" cy="1384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999" spc="19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Vậy</a:t>
            </a: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999" spc="19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với</a:t>
            </a: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Website WordPress </a:t>
            </a:r>
            <a:r>
              <a:rPr lang="en-US" sz="3999" spc="19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chúng</a:t>
            </a: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ta </a:t>
            </a:r>
            <a:r>
              <a:rPr lang="en-US" sz="3999" spc="19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cũng</a:t>
            </a: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999" spc="19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có</a:t>
            </a:r>
            <a:r>
              <a:rPr lang="en-US" sz="3999" spc="19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: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endParaRPr lang="en-US" sz="3999" spc="19" dirty="0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11729" y="3750730"/>
            <a:ext cx="9837570" cy="384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0819" lvl="1" indent="-365409" algn="l">
              <a:lnSpc>
                <a:spcPts val="4400"/>
              </a:lnSpc>
              <a:buFont typeface="Arial"/>
              <a:buChar char="•"/>
            </a:pPr>
            <a:r>
              <a:rPr lang="en-US" sz="3384" spc="33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Source Code: Bao gồm WordPress Core + Theme + Plugins</a:t>
            </a:r>
          </a:p>
          <a:p>
            <a:pPr marL="730819" lvl="1" indent="-365409" algn="l">
              <a:lnSpc>
                <a:spcPts val="4400"/>
              </a:lnSpc>
              <a:buFont typeface="Arial"/>
              <a:buChar char="•"/>
            </a:pPr>
            <a:r>
              <a:rPr lang="en-US" sz="3384" spc="33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Database: Chạy trên MySQL.</a:t>
            </a:r>
          </a:p>
          <a:p>
            <a:pPr marL="730819" lvl="1" indent="-365409" algn="l">
              <a:lnSpc>
                <a:spcPts val="4400"/>
              </a:lnSpc>
              <a:buFont typeface="Arial"/>
              <a:buChar char="•"/>
            </a:pPr>
            <a:r>
              <a:rPr lang="en-US" sz="3384" spc="33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Data: Text Data (bài viết, links, ...) và Media Files (ảnh, file âm thanh, video, .xml, .sql, .pdf, file nén .zip, rar...)</a:t>
            </a:r>
          </a:p>
          <a:p>
            <a:pPr algn="l">
              <a:lnSpc>
                <a:spcPts val="4400"/>
              </a:lnSpc>
            </a:pPr>
            <a:endParaRPr lang="en-US" sz="3384" spc="33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7AD">
                <a:alpha val="100000"/>
              </a:srgbClr>
            </a:gs>
            <a:gs pos="100000">
              <a:srgbClr val="FFA9F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2869" y="1661278"/>
            <a:ext cx="14263589" cy="2497625"/>
            <a:chOff x="0" y="0"/>
            <a:chExt cx="19018119" cy="3330166"/>
          </a:xfrm>
        </p:grpSpPr>
        <p:sp>
          <p:nvSpPr>
            <p:cNvPr id="3" name="TextBox 3"/>
            <p:cNvSpPr txBox="1"/>
            <p:nvPr/>
          </p:nvSpPr>
          <p:spPr>
            <a:xfrm>
              <a:off x="0" y="-114300"/>
              <a:ext cx="19018119" cy="13208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1">
                  <a:solidFill>
                    <a:srgbClr val="1836B2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VII. </a:t>
              </a:r>
              <a:r>
                <a:rPr lang="en-US" sz="5999" b="1" u="none">
                  <a:solidFill>
                    <a:srgbClr val="1836B2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Tính năng nổi bật của Wordpress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35442" y="2922920"/>
              <a:ext cx="8004949" cy="407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9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-839125" y="-398939"/>
            <a:ext cx="19280880" cy="1312977"/>
            <a:chOff x="0" y="0"/>
            <a:chExt cx="25707840" cy="1750636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3125860" y="-10831345"/>
              <a:ext cx="1750636" cy="23413325"/>
              <a:chOff x="0" y="0"/>
              <a:chExt cx="3130550" cy="418685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130550" cy="41868551"/>
              </a:xfrm>
              <a:custGeom>
                <a:avLst/>
                <a:gdLst/>
                <a:ahLst/>
                <a:cxnLst/>
                <a:rect l="l" t="t" r="r" b="b"/>
                <a:pathLst>
                  <a:path w="3130550" h="41868551">
                    <a:moveTo>
                      <a:pt x="0" y="1123950"/>
                    </a:moveTo>
                    <a:lnTo>
                      <a:pt x="0" y="41868551"/>
                    </a:lnTo>
                    <a:lnTo>
                      <a:pt x="3130550" y="41868551"/>
                    </a:lnTo>
                    <a:lnTo>
                      <a:pt x="3130550" y="0"/>
                    </a:lnTo>
                    <a:close/>
                  </a:path>
                </a:pathLst>
              </a:custGeom>
              <a:solidFill>
                <a:srgbClr val="E1A8F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0" y="0"/>
              <a:ext cx="3066088" cy="1750636"/>
            </a:xfrm>
            <a:custGeom>
              <a:avLst/>
              <a:gdLst/>
              <a:ahLst/>
              <a:cxnLst/>
              <a:rect l="l" t="t" r="r" b="b"/>
              <a:pathLst>
                <a:path w="3066088" h="1750636">
                  <a:moveTo>
                    <a:pt x="0" y="0"/>
                  </a:moveTo>
                  <a:lnTo>
                    <a:pt x="3066088" y="0"/>
                  </a:lnTo>
                  <a:lnTo>
                    <a:pt x="3066088" y="1750636"/>
                  </a:lnTo>
                  <a:lnTo>
                    <a:pt x="0" y="1750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15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AutoShape 9"/>
          <p:cNvSpPr/>
          <p:nvPr/>
        </p:nvSpPr>
        <p:spPr>
          <a:xfrm flipH="1" flipV="1">
            <a:off x="1292869" y="7038975"/>
            <a:ext cx="14263589" cy="0"/>
          </a:xfrm>
          <a:prstGeom prst="line">
            <a:avLst/>
          </a:prstGeom>
          <a:ln w="57150" cap="rnd">
            <a:solidFill>
              <a:srgbClr val="86C7ED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>
            <a:off x="1292869" y="6076950"/>
            <a:ext cx="14263589" cy="0"/>
          </a:xfrm>
          <a:prstGeom prst="line">
            <a:avLst/>
          </a:prstGeom>
          <a:ln w="57150" cap="rnd">
            <a:solidFill>
              <a:srgbClr val="86C7ED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H="1" flipV="1">
            <a:off x="1292869" y="5086350"/>
            <a:ext cx="14263589" cy="28575"/>
          </a:xfrm>
          <a:prstGeom prst="line">
            <a:avLst/>
          </a:prstGeom>
          <a:ln w="57150" cap="rnd">
            <a:solidFill>
              <a:srgbClr val="86C7ED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H="1" flipV="1">
            <a:off x="1292869" y="4130426"/>
            <a:ext cx="14263589" cy="0"/>
          </a:xfrm>
          <a:prstGeom prst="line">
            <a:avLst/>
          </a:prstGeom>
          <a:ln w="47625" cap="rnd">
            <a:solidFill>
              <a:srgbClr val="86C7ED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H="1" flipV="1">
            <a:off x="1292869" y="8963025"/>
            <a:ext cx="14263589" cy="0"/>
          </a:xfrm>
          <a:prstGeom prst="line">
            <a:avLst/>
          </a:prstGeom>
          <a:ln w="57150" cap="rnd">
            <a:solidFill>
              <a:srgbClr val="86C7ED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H="1" flipV="1">
            <a:off x="1292869" y="8001000"/>
            <a:ext cx="14263589" cy="0"/>
          </a:xfrm>
          <a:prstGeom prst="line">
            <a:avLst/>
          </a:prstGeom>
          <a:ln w="57150" cap="rnd">
            <a:solidFill>
              <a:srgbClr val="86C7ED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028700" y="3335723"/>
            <a:ext cx="15052228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spc="16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Hỗ trợ đa nền tảng, quản lý website trên máy tính, điện thoại và máy tính bảng.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2869" y="4282727"/>
            <a:ext cx="14160183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spc="16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Cung cấp nhiều theme giúp thay đổi giao diện dễ dàng mà không cần viết mã.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2869" y="5272404"/>
            <a:ext cx="16269494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spc="16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Hệ thống plugin phong phú, mở rộng tính năng linh hoạt như SEO, bảo mật, mạng xã hội.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2869" y="6238875"/>
            <a:ext cx="10213181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spc="16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Chuẩn SEO, hỗ trợ website dễ lên thứ hạng trên Google.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0784" y="7191375"/>
            <a:ext cx="12715016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spc="16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Có cộng đồng hỗ trợ lớn với nhiều tài liệu, theme và plugin miễn phí.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2869" y="8162925"/>
            <a:ext cx="14489590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spc="16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Thường xuyên cập nhật bảo mật để bảo vệ website trước các mối đe dọa mạng.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82240" y="3796977"/>
            <a:ext cx="1292352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  <a:spcBef>
                <a:spcPct val="0"/>
              </a:spcBef>
            </a:pPr>
            <a:r>
              <a:rPr lang="en-US" sz="18000" spc="75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1057</Words>
  <Application>Microsoft Office PowerPoint</Application>
  <PresentationFormat>Custom</PresentationFormat>
  <Paragraphs>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Cabin Bold</vt:lpstr>
      <vt:lpstr>Cabin Semi-Bold</vt:lpstr>
      <vt:lpstr>Arial</vt:lpstr>
      <vt:lpstr>Cabin</vt:lpstr>
      <vt:lpstr>Calibri</vt:lpstr>
      <vt:lpstr>Cabin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thuyết trình Công ty Đánh giá Dự án Doanh nghiệp Thông thường Xanh dương và Tím </dc:title>
  <cp:lastModifiedBy>My Ngô Huệ</cp:lastModifiedBy>
  <cp:revision>2</cp:revision>
  <dcterms:created xsi:type="dcterms:W3CDTF">2006-08-16T00:00:00Z</dcterms:created>
  <dcterms:modified xsi:type="dcterms:W3CDTF">2026-06-16T16:29:26Z</dcterms:modified>
  <dc:identifier>DAHJLeZHd4I</dc:identifier>
</cp:coreProperties>
</file>